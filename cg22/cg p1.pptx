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03DE0-3429-4730-9CEC-6FB1549D44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38B67F-3295-4E75-9161-FDFED534EE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D09D76-76E5-49E0-9E19-B157A70F5F6C}"/>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D8BD1AE0-9070-40B0-B84E-6242CBEA4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977F66-40FE-4708-8AD3-843732259B10}"/>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387328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1D3BF-0A8B-4E5F-9BD2-D762BBD55D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CEB880-AA64-47D6-ACBC-51D8BBD8A0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C1E954-C312-4D51-B004-ABD2E8A7D292}"/>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589AA075-D4D8-4C1A-9BCD-7174FDD3E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59FF99-08D2-48EB-8A7D-EADBDFF8AE49}"/>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133250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84654-0B20-4A3B-82CA-C10EECAE28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DA9E0B-833D-4447-9DEE-CB427BC300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2A48BF-0972-47E9-AABD-E08B43FB56C5}"/>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C2CB629C-56AD-486A-ADCE-139D06524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360A1-FCF0-44E6-BC65-97D64C80DBC2}"/>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2380363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89F2-4973-4D11-9BE1-DFAE0DC1C5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174350-968C-4DDD-AD33-2BE546F47D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ED18B0-440C-44B2-AD83-340CF6FAEE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E7898B-C043-4C1E-8402-22FAC4613BD0}"/>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6" name="Footer Placeholder 5">
            <a:extLst>
              <a:ext uri="{FF2B5EF4-FFF2-40B4-BE49-F238E27FC236}">
                <a16:creationId xmlns:a16="http://schemas.microsoft.com/office/drawing/2014/main" id="{0464D7C3-2C45-4CA4-9069-BD0328C60C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D4D326-72A5-4F39-9211-2F8116FCE203}"/>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2888002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BED30-618D-4D04-9834-69230E22C6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3C5BED-EF89-4B9F-8017-291777C84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B35BFB-0C54-46DF-9E9B-6C64D62B75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1276E7-A8EE-46E4-A52A-86F43FA003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D5F25A-8569-4AF9-A5C5-43F4B1DFBC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89C51D-E842-40B1-B64A-48AF2ECF2F06}"/>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8" name="Footer Placeholder 7">
            <a:extLst>
              <a:ext uri="{FF2B5EF4-FFF2-40B4-BE49-F238E27FC236}">
                <a16:creationId xmlns:a16="http://schemas.microsoft.com/office/drawing/2014/main" id="{3F271B2C-C734-4ECB-9CE4-F27901E034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027449-3285-431B-847D-1FE9C84C0FFD}"/>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814315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7EE8-B10C-42EE-A87C-0DBDF1CD1A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8A850-62E1-46FA-84F4-D2417F6648D7}"/>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4" name="Footer Placeholder 3">
            <a:extLst>
              <a:ext uri="{FF2B5EF4-FFF2-40B4-BE49-F238E27FC236}">
                <a16:creationId xmlns:a16="http://schemas.microsoft.com/office/drawing/2014/main" id="{C2DB0BC5-E569-40C2-9390-06F239CA44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B0847F-85AB-4B9C-B713-5E32AD2A1B4D}"/>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1423315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39242C-6AAD-46D7-B1B4-CDCD74F92BCF}"/>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3" name="Footer Placeholder 2">
            <a:extLst>
              <a:ext uri="{FF2B5EF4-FFF2-40B4-BE49-F238E27FC236}">
                <a16:creationId xmlns:a16="http://schemas.microsoft.com/office/drawing/2014/main" id="{B0F10886-B078-41FE-A8BB-48957BC440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27040A-A48E-4041-81CB-EA934EFC71E5}"/>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1976793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DD653-C5B0-463A-82AA-CBE10DDC89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E50F40-6A25-4DEF-8338-D79BC15511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6ED5AC-2C73-4993-8E32-49C802AEF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638E2-6AD7-4AEE-B643-832AF89F7877}"/>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6" name="Footer Placeholder 5">
            <a:extLst>
              <a:ext uri="{FF2B5EF4-FFF2-40B4-BE49-F238E27FC236}">
                <a16:creationId xmlns:a16="http://schemas.microsoft.com/office/drawing/2014/main" id="{79E42A1A-9408-4977-A9D5-3EC46D4E0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8BA116-A7DD-44AF-8171-94AE22297974}"/>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990852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5CB07-6ED2-41AB-BC4C-3E8760088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CA32AA-8AEE-4A02-8751-E54B7AA59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E25CDA-FCD2-4E5A-81B1-26AAC2A92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9057B3-D0AE-4D3E-A266-3ED55003FD34}"/>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6" name="Footer Placeholder 5">
            <a:extLst>
              <a:ext uri="{FF2B5EF4-FFF2-40B4-BE49-F238E27FC236}">
                <a16:creationId xmlns:a16="http://schemas.microsoft.com/office/drawing/2014/main" id="{7D9C5966-C7DB-46D3-A57C-B7FD6B5839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E8586E-1821-4244-BC48-B86C44513DE3}"/>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627097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AED70-06B3-49E6-93D9-AE3CB96DD8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94C6CC-1458-438E-A97E-0DE0E391D0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A17E4-9E6A-4B7A-ADF0-C5502ED70B93}"/>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7F771E73-B15C-4F9F-9682-0EB8A78D0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C84922-DDEB-4FDD-BB29-665061A56F25}"/>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3116253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5EEC4E-2EF5-43EA-AC09-2608A389F5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4B8C79-30E9-4052-95C8-2B9C9F0A3C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CD06B0-F561-4347-91ED-8DA3E2B97B34}"/>
              </a:ext>
            </a:extLst>
          </p:cNvPr>
          <p:cNvSpPr>
            <a:spLocks noGrp="1"/>
          </p:cNvSpPr>
          <p:nvPr>
            <p:ph type="dt" sz="half" idx="10"/>
          </p:nvPr>
        </p:nvSpPr>
        <p:spPr/>
        <p:txBody>
          <a:body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3316D27A-5E20-4D7F-824F-78E91DBA7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B3056-E4FD-43CA-A589-B8B170D13A44}"/>
              </a:ext>
            </a:extLst>
          </p:cNvPr>
          <p:cNvSpPr>
            <a:spLocks noGrp="1"/>
          </p:cNvSpPr>
          <p:nvPr>
            <p:ph type="sldNum" sz="quarter" idx="12"/>
          </p:nvPr>
        </p:nvSpPr>
        <p:spPr/>
        <p:txBody>
          <a:bodyPr/>
          <a:lstStyle/>
          <a:p>
            <a:fld id="{3853C80C-93FA-483F-8890-69BCCE0A11AD}" type="slidenum">
              <a:rPr lang="en-US" smtClean="0"/>
              <a:t>‹#›</a:t>
            </a:fld>
            <a:endParaRPr lang="en-US"/>
          </a:p>
        </p:txBody>
      </p:sp>
    </p:spTree>
    <p:extLst>
      <p:ext uri="{BB962C8B-B14F-4D97-AF65-F5344CB8AC3E}">
        <p14:creationId xmlns:p14="http://schemas.microsoft.com/office/powerpoint/2010/main" val="394941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F1582E-4ECA-4BDF-8CA8-2EC36F643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E916D-13DF-4F92-9832-5D3C24DD2B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07E4A-48FE-400B-93BC-B21F075177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9FE08-D04F-4979-A5C4-41EB2BE43286}" type="datetimeFigureOut">
              <a:rPr lang="en-US" smtClean="0"/>
              <a:t>2/27/2026</a:t>
            </a:fld>
            <a:endParaRPr lang="en-US"/>
          </a:p>
        </p:txBody>
      </p:sp>
      <p:sp>
        <p:nvSpPr>
          <p:cNvPr id="5" name="Footer Placeholder 4">
            <a:extLst>
              <a:ext uri="{FF2B5EF4-FFF2-40B4-BE49-F238E27FC236}">
                <a16:creationId xmlns:a16="http://schemas.microsoft.com/office/drawing/2014/main" id="{B24C8714-4EA2-48A9-8635-ECC64A87E4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A07581-EB31-40C7-902E-9283E31C8B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53C80C-93FA-483F-8890-69BCCE0A11AD}" type="slidenum">
              <a:rPr lang="en-US" smtClean="0"/>
              <a:t>‹#›</a:t>
            </a:fld>
            <a:endParaRPr lang="en-US"/>
          </a:p>
        </p:txBody>
      </p:sp>
    </p:spTree>
    <p:extLst>
      <p:ext uri="{BB962C8B-B14F-4D97-AF65-F5344CB8AC3E}">
        <p14:creationId xmlns:p14="http://schemas.microsoft.com/office/powerpoint/2010/main" val="260619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CD64E-CE4B-4035-BCFB-D56B906364A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6780528-2BAD-4E7D-A6B0-22A08167FD31}"/>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15AB353-FE48-4EED-BCCC-3394F6A63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6502"/>
            <a:ext cx="12192000" cy="7581207"/>
          </a:xfrm>
          <a:prstGeom prst="rect">
            <a:avLst/>
          </a:prstGeom>
        </p:spPr>
      </p:pic>
    </p:spTree>
    <p:extLst>
      <p:ext uri="{BB962C8B-B14F-4D97-AF65-F5344CB8AC3E}">
        <p14:creationId xmlns:p14="http://schemas.microsoft.com/office/powerpoint/2010/main" val="276199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643C-2B6F-4C39-BFA1-5C7931B695CB}"/>
              </a:ext>
            </a:extLst>
          </p:cNvPr>
          <p:cNvSpPr>
            <a:spLocks noGrp="1"/>
          </p:cNvSpPr>
          <p:nvPr>
            <p:ph type="title"/>
          </p:nvPr>
        </p:nvSpPr>
        <p:spPr/>
        <p:txBody>
          <a:bodyPr/>
          <a:lstStyle/>
          <a:p>
            <a:r>
              <a:rPr lang="en-US" b="0" i="0" dirty="0">
                <a:solidFill>
                  <a:srgbClr val="F9FAFB"/>
                </a:solidFill>
                <a:effectLst/>
                <a:highlight>
                  <a:srgbClr val="000000"/>
                </a:highlight>
                <a:latin typeface="quote-cjk-patch"/>
              </a:rPr>
              <a:t>Robot</a:t>
            </a:r>
            <a:r>
              <a:rPr lang="en-US" b="0" i="0" dirty="0">
                <a:solidFill>
                  <a:srgbClr val="F9FAFB"/>
                </a:solidFill>
                <a:effectLst/>
                <a:latin typeface="quote-cjk-patch"/>
              </a:rPr>
              <a:t> </a:t>
            </a:r>
            <a:r>
              <a:rPr lang="en-US" b="0" i="0" dirty="0">
                <a:solidFill>
                  <a:srgbClr val="F9FAFB"/>
                </a:solidFill>
                <a:effectLst/>
                <a:highlight>
                  <a:srgbClr val="000000"/>
                </a:highlight>
                <a:latin typeface="quote-cjk-patch"/>
              </a:rPr>
              <a:t>SR-2000</a:t>
            </a:r>
            <a:r>
              <a:rPr lang="en-US" b="0" i="0" dirty="0">
                <a:solidFill>
                  <a:srgbClr val="F9FAFB"/>
                </a:solidFill>
                <a:effectLst/>
                <a:latin typeface="quote-cjk-patch"/>
              </a:rPr>
              <a:t> </a:t>
            </a:r>
            <a:r>
              <a:rPr lang="en-US" b="0" i="0" dirty="0">
                <a:solidFill>
                  <a:srgbClr val="F9FAFB"/>
                </a:solidFill>
                <a:effectLst/>
                <a:highlight>
                  <a:srgbClr val="000000"/>
                </a:highlight>
                <a:latin typeface="quote-cjk-patch"/>
              </a:rPr>
              <a:t>(</a:t>
            </a:r>
            <a:r>
              <a:rPr lang="ar-SA" b="0" i="0" dirty="0">
                <a:solidFill>
                  <a:srgbClr val="F9FAFB"/>
                </a:solidFill>
                <a:effectLst/>
                <a:highlight>
                  <a:srgbClr val="000000"/>
                </a:highlight>
                <a:latin typeface="quote-cjk-patch"/>
              </a:rPr>
              <a:t>وجه روبوت متحرك)</a:t>
            </a:r>
            <a:endParaRPr lang="en-US" dirty="0">
              <a:highlight>
                <a:srgbClr val="000000"/>
              </a:highlight>
            </a:endParaRPr>
          </a:p>
        </p:txBody>
      </p:sp>
      <p:graphicFrame>
        <p:nvGraphicFramePr>
          <p:cNvPr id="4" name="Content Placeholder 3">
            <a:extLst>
              <a:ext uri="{FF2B5EF4-FFF2-40B4-BE49-F238E27FC236}">
                <a16:creationId xmlns:a16="http://schemas.microsoft.com/office/drawing/2014/main" id="{AB39AEAE-96D5-4E43-A355-30CBD52EB551}"/>
              </a:ext>
            </a:extLst>
          </p:cNvPr>
          <p:cNvGraphicFramePr>
            <a:graphicFrameLocks noGrp="1"/>
          </p:cNvGraphicFramePr>
          <p:nvPr>
            <p:ph idx="1"/>
            <p:extLst>
              <p:ext uri="{D42A27DB-BD31-4B8C-83A1-F6EECF244321}">
                <p14:modId xmlns:p14="http://schemas.microsoft.com/office/powerpoint/2010/main" val="2489391612"/>
              </p:ext>
            </p:extLst>
          </p:nvPr>
        </p:nvGraphicFramePr>
        <p:xfrm>
          <a:off x="0" y="1554480"/>
          <a:ext cx="12111644" cy="5303520"/>
        </p:xfrm>
        <a:graphic>
          <a:graphicData uri="http://schemas.openxmlformats.org/drawingml/2006/table">
            <a:tbl>
              <a:tblPr/>
              <a:tblGrid>
                <a:gridCol w="6055822">
                  <a:extLst>
                    <a:ext uri="{9D8B030D-6E8A-4147-A177-3AD203B41FA5}">
                      <a16:colId xmlns:a16="http://schemas.microsoft.com/office/drawing/2014/main" val="2540260752"/>
                    </a:ext>
                  </a:extLst>
                </a:gridCol>
                <a:gridCol w="6055822">
                  <a:extLst>
                    <a:ext uri="{9D8B030D-6E8A-4147-A177-3AD203B41FA5}">
                      <a16:colId xmlns:a16="http://schemas.microsoft.com/office/drawing/2014/main" val="4173331399"/>
                    </a:ext>
                  </a:extLst>
                </a:gridCol>
              </a:tblGrid>
              <a:tr h="598784">
                <a:tc>
                  <a:txBody>
                    <a:bodyPr/>
                    <a:lstStyle/>
                    <a:p>
                      <a:pPr algn="l"/>
                      <a:r>
                        <a:rPr lang="ar-SA" b="0" dirty="0">
                          <a:effectLst/>
                          <a:latin typeface="quote-cjk-patch"/>
                        </a:rPr>
                        <a:t>العنصر</a:t>
                      </a:r>
                    </a:p>
                  </a:txBody>
                  <a:tcPr marR="121920" marT="76200" marB="76200" anchor="ctr">
                    <a:lnL>
                      <a:noFill/>
                    </a:lnL>
                    <a:lnR>
                      <a:noFill/>
                    </a:lnR>
                    <a:lnT>
                      <a:noFill/>
                    </a:lnT>
                    <a:lnB>
                      <a:noFill/>
                    </a:lnB>
                    <a:solidFill>
                      <a:schemeClr val="accent1">
                        <a:lumMod val="60000"/>
                        <a:lumOff val="40000"/>
                      </a:schemeClr>
                    </a:solidFill>
                  </a:tcPr>
                </a:tc>
                <a:tc>
                  <a:txBody>
                    <a:bodyPr/>
                    <a:lstStyle/>
                    <a:p>
                      <a:pPr algn="l"/>
                      <a:r>
                        <a:rPr lang="ar-SA" b="0" dirty="0">
                          <a:effectLst/>
                          <a:latin typeface="quote-cjk-patch"/>
                        </a:rPr>
                        <a:t>التفاصيل</a:t>
                      </a:r>
                    </a:p>
                  </a:txBody>
                  <a:tcPr marL="121920" marR="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893193149"/>
                  </a:ext>
                </a:extLst>
              </a:tr>
              <a:tr h="983717">
                <a:tc>
                  <a:txBody>
                    <a:bodyPr/>
                    <a:lstStyle/>
                    <a:p>
                      <a:r>
                        <a:rPr lang="ar-SA" b="1" dirty="0">
                          <a:effectLst/>
                          <a:latin typeface="quote-cjk-patch"/>
                        </a:rPr>
                        <a:t>اسم المشروع</a:t>
                      </a:r>
                      <a:endParaRPr lang="ar-SA"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en-US" b="0" dirty="0">
                          <a:effectLst/>
                          <a:latin typeface="quote-cjk-patch"/>
                        </a:rPr>
                        <a:t>Robot SR-2000 (</a:t>
                      </a:r>
                      <a:r>
                        <a:rPr lang="ar-SA" b="0" dirty="0">
                          <a:effectLst/>
                          <a:latin typeface="quote-cjk-patch"/>
                        </a:rPr>
                        <a:t>وجه روبوت متحرك</a:t>
                      </a:r>
                      <a:r>
                        <a:rPr lang="ar-SA" b="0" dirty="0">
                          <a:effectLst/>
                          <a:highlight>
                            <a:srgbClr val="000000"/>
                          </a:highlight>
                          <a:latin typeface="quote-cjk-patch"/>
                        </a:rPr>
                        <a:t>)</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3035404919"/>
                  </a:ext>
                </a:extLst>
              </a:tr>
              <a:tr h="1368651">
                <a:tc>
                  <a:txBody>
                    <a:bodyPr/>
                    <a:lstStyle/>
                    <a:p>
                      <a:r>
                        <a:rPr lang="ar-SA" b="1" dirty="0">
                          <a:effectLst/>
                          <a:latin typeface="quote-cjk-patch"/>
                        </a:rPr>
                        <a:t>الفكرة الرئيسية</a:t>
                      </a:r>
                      <a:endParaRPr lang="ar-SA"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بناء وجه روبوت باستخدام الأشكال الأساسية (مثلثات) مع تحريك أجزاء محددة</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983940258"/>
                  </a:ext>
                </a:extLst>
              </a:tr>
              <a:tr h="983717">
                <a:tc>
                  <a:txBody>
                    <a:bodyPr/>
                    <a:lstStyle/>
                    <a:p>
                      <a:r>
                        <a:rPr lang="ar-SA" b="1" dirty="0">
                          <a:effectLst/>
                          <a:latin typeface="quote-cjk-patch"/>
                        </a:rPr>
                        <a:t>الأجزاء المرسومة</a:t>
                      </a:r>
                      <a:endParaRPr lang="ar-SA"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رأس، عينان دائريتان، فم متحرك، هوائي</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443978195"/>
                  </a:ext>
                </a:extLst>
              </a:tr>
              <a:tr h="1368651">
                <a:tc>
                  <a:txBody>
                    <a:bodyPr/>
                    <a:lstStyle/>
                    <a:p>
                      <a:r>
                        <a:rPr lang="ar-SA" b="1" dirty="0">
                          <a:effectLst/>
                          <a:latin typeface="quote-cjk-patch"/>
                        </a:rPr>
                        <a:t>المفاهيم المطبقة</a:t>
                      </a:r>
                      <a:endParaRPr lang="ar-SA"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en-US" b="0" dirty="0">
                          <a:effectLst/>
                          <a:latin typeface="quote-cjk-patch"/>
                        </a:rPr>
                        <a:t>VBO, VAO, Shaders, Uniforms, Depth Test, Blending</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615722746"/>
                  </a:ext>
                </a:extLst>
              </a:tr>
            </a:tbl>
          </a:graphicData>
        </a:graphic>
      </p:graphicFrame>
    </p:spTree>
    <p:extLst>
      <p:ext uri="{BB962C8B-B14F-4D97-AF65-F5344CB8AC3E}">
        <p14:creationId xmlns:p14="http://schemas.microsoft.com/office/powerpoint/2010/main" val="3186916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F39D-9ABC-492C-B045-647E67338EEC}"/>
              </a:ext>
            </a:extLst>
          </p:cNvPr>
          <p:cNvSpPr>
            <a:spLocks noGrp="1"/>
          </p:cNvSpPr>
          <p:nvPr>
            <p:ph type="title"/>
          </p:nvPr>
        </p:nvSpPr>
        <p:spPr/>
        <p:txBody>
          <a:bodyPr/>
          <a:lstStyle/>
          <a:p>
            <a:br>
              <a:rPr lang="ar-SA" dirty="0"/>
            </a:br>
            <a:r>
              <a:rPr lang="ar-SA" b="1" i="0" dirty="0">
                <a:effectLst/>
                <a:latin typeface="quote-cjk-patch"/>
              </a:rPr>
              <a:t>شرح</a:t>
            </a:r>
            <a:r>
              <a:rPr lang="ar-SA" b="1" i="0" dirty="0">
                <a:solidFill>
                  <a:srgbClr val="F9FAFB"/>
                </a:solidFill>
                <a:effectLst/>
                <a:latin typeface="quote-cjk-patch"/>
              </a:rPr>
              <a:t> </a:t>
            </a:r>
            <a:r>
              <a:rPr lang="ar-SA" b="1" i="0" dirty="0">
                <a:effectLst/>
                <a:latin typeface="quote-cjk-patch"/>
              </a:rPr>
              <a:t>مبسط</a:t>
            </a:r>
            <a:r>
              <a:rPr lang="ar-SA" b="1" i="0" dirty="0">
                <a:solidFill>
                  <a:srgbClr val="F9FAFB"/>
                </a:solidFill>
                <a:effectLst/>
                <a:latin typeface="quote-cjk-patch"/>
              </a:rPr>
              <a:t>:</a:t>
            </a:r>
            <a:endParaRPr lang="en-US" dirty="0"/>
          </a:p>
        </p:txBody>
      </p:sp>
      <p:sp>
        <p:nvSpPr>
          <p:cNvPr id="3" name="Content Placeholder 2">
            <a:extLst>
              <a:ext uri="{FF2B5EF4-FFF2-40B4-BE49-F238E27FC236}">
                <a16:creationId xmlns:a16="http://schemas.microsoft.com/office/drawing/2014/main" id="{82DC356F-C9F1-43FF-96DE-A4CB7FF23352}"/>
              </a:ext>
            </a:extLst>
          </p:cNvPr>
          <p:cNvSpPr>
            <a:spLocks noGrp="1"/>
          </p:cNvSpPr>
          <p:nvPr>
            <p:ph idx="1"/>
          </p:nvPr>
        </p:nvSpPr>
        <p:spPr/>
        <p:txBody>
          <a:bodyPr/>
          <a:lstStyle/>
          <a:p>
            <a:r>
              <a:rPr lang="ar-SA" b="0" i="0" dirty="0">
                <a:effectLst/>
                <a:latin typeface="quote-cjk-patch"/>
              </a:rPr>
              <a:t>المشروع عبارة عن وجه روبوت. الرأس مربع، العيون دائرية (12 مثلث لكل عين)، الفم مستطيل يتحرك يمنة ويسرة، والهوائي مثلث صغير. العيون والفم فقط هما اللي يتأثرون بالوقت (يومضون ويتحركون)، باقي الأجزاء ثابتة.</a:t>
            </a:r>
            <a:endParaRPr lang="en-US" dirty="0"/>
          </a:p>
        </p:txBody>
      </p:sp>
    </p:spTree>
    <p:extLst>
      <p:ext uri="{BB962C8B-B14F-4D97-AF65-F5344CB8AC3E}">
        <p14:creationId xmlns:p14="http://schemas.microsoft.com/office/powerpoint/2010/main" val="180375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4D493-3A3C-4A31-8A5E-EB758A81E189}"/>
              </a:ext>
            </a:extLst>
          </p:cNvPr>
          <p:cNvSpPr>
            <a:spLocks noGrp="1"/>
          </p:cNvSpPr>
          <p:nvPr>
            <p:ph type="title"/>
          </p:nvPr>
        </p:nvSpPr>
        <p:spPr/>
        <p:txBody>
          <a:bodyPr/>
          <a:lstStyle/>
          <a:p>
            <a:r>
              <a:rPr lang="en-US" b="1" dirty="0">
                <a:effectLst/>
                <a:latin typeface="quote-cjk-patch"/>
              </a:rPr>
              <a:t>Vertex Data (</a:t>
            </a:r>
            <a:r>
              <a:rPr lang="ar-SA" b="1" dirty="0">
                <a:effectLst/>
                <a:latin typeface="quote-cjk-patch"/>
              </a:rPr>
              <a:t>بيانات الرؤوس)</a:t>
            </a:r>
            <a:br>
              <a:rPr lang="ar-SA" b="1" dirty="0">
                <a:effectLst/>
                <a:latin typeface="quote-cjk-patch"/>
              </a:rPr>
            </a:br>
            <a:endParaRPr lang="en-US" dirty="0"/>
          </a:p>
        </p:txBody>
      </p:sp>
      <p:sp>
        <p:nvSpPr>
          <p:cNvPr id="3" name="Content Placeholder 2">
            <a:extLst>
              <a:ext uri="{FF2B5EF4-FFF2-40B4-BE49-F238E27FC236}">
                <a16:creationId xmlns:a16="http://schemas.microsoft.com/office/drawing/2014/main" id="{1AA11ABA-C2D3-488A-A4A6-1C92758804F3}"/>
              </a:ext>
            </a:extLst>
          </p:cNvPr>
          <p:cNvSpPr>
            <a:spLocks noGrp="1"/>
          </p:cNvSpPr>
          <p:nvPr>
            <p:ph idx="1"/>
          </p:nvPr>
        </p:nvSpPr>
        <p:spPr/>
        <p:txBody>
          <a:bodyPr/>
          <a:lstStyle/>
          <a:p>
            <a:r>
              <a:rPr kumimoji="0" lang="en-US" altLang="en-US" sz="2800" b="0" i="0" u="none" strike="noStrike" cap="none" normalizeH="0" baseline="0" dirty="0">
                <a:ln>
                  <a:noFill/>
                </a:ln>
                <a:solidFill>
                  <a:srgbClr val="E9AE7E"/>
                </a:solidFill>
                <a:effectLst/>
                <a:latin typeface="Menlo"/>
              </a:rPr>
              <a:t>float</a:t>
            </a:r>
            <a:r>
              <a:rPr kumimoji="0" lang="en-US" altLang="en-US" sz="2800" b="0" i="0" u="none" strike="noStrike" cap="none" normalizeH="0" baseline="0" dirty="0">
                <a:ln>
                  <a:noFill/>
                </a:ln>
                <a:solidFill>
                  <a:srgbClr val="F9FAFB"/>
                </a:solidFill>
                <a:effectLst/>
                <a:latin typeface="Menlo"/>
              </a:rPr>
              <a:t> vertices</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9AE7E"/>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8DA1B9"/>
                </a:solidFill>
                <a:effectLst/>
                <a:latin typeface="Menlo"/>
              </a:rPr>
              <a:t>// </a:t>
            </a:r>
            <a:r>
              <a:rPr kumimoji="0" lang="ar-SA" altLang="en-US" sz="2800" b="0" i="0" u="none" strike="noStrike" cap="none" normalizeH="0" baseline="0" dirty="0">
                <a:ln>
                  <a:noFill/>
                </a:ln>
                <a:solidFill>
                  <a:srgbClr val="8DA1B9"/>
                </a:solidFill>
                <a:effectLst/>
                <a:latin typeface="Menlo"/>
                <a:cs typeface="Arial" panose="020B0604020202020204" pitchFamily="34" charset="0"/>
              </a:rPr>
              <a:t>التنسيق</a:t>
            </a:r>
            <a:r>
              <a:rPr kumimoji="0" lang="en-US" altLang="en-US" sz="2800" b="0" i="0" u="none" strike="noStrike" cap="none" normalizeH="0" baseline="0" dirty="0">
                <a:ln>
                  <a:noFill/>
                </a:ln>
                <a:solidFill>
                  <a:srgbClr val="8DA1B9"/>
                </a:solidFill>
                <a:effectLst/>
                <a:latin typeface="Menlo"/>
              </a:rPr>
              <a:t>: X, Y, Z, R, G, B</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9AE7E"/>
                </a:solidFill>
                <a:effectLst/>
                <a:latin typeface="Menlo"/>
              </a:rPr>
              <a:t>-</a:t>
            </a:r>
            <a:r>
              <a:rPr kumimoji="0" lang="en-US" altLang="en-US" sz="2800" b="0" i="0" u="none" strike="noStrike" cap="none" normalizeH="0" baseline="0" dirty="0">
                <a:ln>
                  <a:noFill/>
                </a:ln>
                <a:solidFill>
                  <a:srgbClr val="E6D37A"/>
                </a:solidFill>
                <a:effectLst/>
                <a:latin typeface="Menlo"/>
              </a:rPr>
              <a:t>0.8f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6D37A"/>
                </a:solidFill>
                <a:effectLst/>
                <a:latin typeface="Menlo"/>
              </a:rPr>
              <a:t>0.8f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6D37A"/>
                </a:solidFill>
                <a:effectLst/>
                <a:latin typeface="Menlo"/>
              </a:rPr>
              <a:t>0.0f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6D37A"/>
                </a:solidFill>
                <a:effectLst/>
                <a:latin typeface="Menlo"/>
              </a:rPr>
              <a:t>0.7f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6D37A"/>
                </a:solidFill>
                <a:effectLst/>
                <a:latin typeface="Menlo"/>
              </a:rPr>
              <a:t>0.7f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6D37A"/>
                </a:solidFill>
                <a:effectLst/>
                <a:latin typeface="Menlo"/>
              </a:rPr>
              <a:t>0.8f</a:t>
            </a:r>
            <a:r>
              <a:rPr kumimoji="0" lang="en-US" altLang="en-US" sz="2800" b="0" i="0" u="none" strike="noStrike" cap="none" normalizeH="0" baseline="0" dirty="0">
                <a:ln>
                  <a:noFill/>
                </a:ln>
                <a:solidFill>
                  <a:srgbClr val="E3EAF2"/>
                </a:solidFill>
                <a:effectLst/>
                <a:latin typeface="Menlo"/>
              </a:rPr>
              <a:t>,</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8DA1B9"/>
                </a:solidFill>
                <a:effectLst/>
                <a:latin typeface="Menlo"/>
              </a:rPr>
              <a:t>// </a:t>
            </a:r>
            <a:r>
              <a:rPr kumimoji="0" lang="ar-SA" altLang="en-US" sz="2800" b="0" i="0" u="none" strike="noStrike" cap="none" normalizeH="0" baseline="0" dirty="0">
                <a:ln>
                  <a:noFill/>
                </a:ln>
                <a:solidFill>
                  <a:srgbClr val="8DA1B9"/>
                </a:solidFill>
                <a:effectLst/>
                <a:latin typeface="Menlo"/>
                <a:cs typeface="Arial" panose="020B0604020202020204" pitchFamily="34" charset="0"/>
              </a:rPr>
              <a:t>رأس</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8DA1B9"/>
                </a:solidFill>
                <a:effectLst/>
                <a:latin typeface="Menlo"/>
              </a:rPr>
              <a:t>// ... </a:t>
            </a:r>
            <a:r>
              <a:rPr kumimoji="0" lang="ar-SA" altLang="en-US" sz="2800" b="0" i="0" u="none" strike="noStrike" cap="none" normalizeH="0" baseline="0" dirty="0">
                <a:ln>
                  <a:noFill/>
                </a:ln>
                <a:solidFill>
                  <a:srgbClr val="8DA1B9"/>
                </a:solidFill>
                <a:effectLst/>
                <a:latin typeface="Menlo"/>
                <a:cs typeface="Arial" panose="020B0604020202020204" pitchFamily="34" charset="0"/>
              </a:rPr>
              <a:t>المزيد من البيانات</a:t>
            </a:r>
            <a:r>
              <a:rPr kumimoji="0" lang="en-US" altLang="en-US" sz="2800" b="0" i="0" u="none" strike="noStrike" cap="none" normalizeH="0" baseline="0" dirty="0">
                <a:ln>
                  <a:noFill/>
                </a:ln>
                <a:solidFill>
                  <a:srgbClr val="F9FAFB"/>
                </a:solidFill>
                <a:effectLst/>
                <a:latin typeface="Menlo"/>
              </a:rPr>
              <a:t> </a:t>
            </a:r>
            <a:r>
              <a:rPr kumimoji="0" lang="en-US" altLang="en-US" sz="2800" b="0" i="0" u="none" strike="noStrike" cap="none" normalizeH="0" baseline="0" dirty="0">
                <a:ln>
                  <a:noFill/>
                </a:ln>
                <a:solidFill>
                  <a:srgbClr val="E3EAF2"/>
                </a:solidFill>
                <a:effectLst/>
                <a:latin typeface="Menlo"/>
              </a:rPr>
              <a:t>};</a:t>
            </a:r>
            <a:r>
              <a:rPr kumimoji="0" lang="en-US" altLang="en-US" sz="2400" b="0" i="0" u="none" strike="noStrike" cap="none" normalizeH="0" baseline="0" dirty="0">
                <a:ln>
                  <a:noFill/>
                </a:ln>
                <a:solidFill>
                  <a:schemeClr val="tx1"/>
                </a:solidFill>
                <a:effectLst/>
              </a:rPr>
              <a:t> </a:t>
            </a:r>
          </a:p>
          <a:p>
            <a:endParaRPr kumimoji="0" lang="en-US" altLang="en-US" sz="6000" b="0" i="0" u="none" strike="noStrike" cap="none" normalizeH="0" baseline="0" dirty="0">
              <a:ln>
                <a:noFill/>
              </a:ln>
              <a:solidFill>
                <a:schemeClr val="tx1"/>
              </a:solidFill>
              <a:effectLst/>
              <a:latin typeface="Arial" panose="020B0604020202020204" pitchFamily="34" charset="0"/>
            </a:endParaRPr>
          </a:p>
          <a:p>
            <a:endParaRPr lang="en-US" dirty="0"/>
          </a:p>
        </p:txBody>
      </p:sp>
      <p:graphicFrame>
        <p:nvGraphicFramePr>
          <p:cNvPr id="5" name="Table 4">
            <a:extLst>
              <a:ext uri="{FF2B5EF4-FFF2-40B4-BE49-F238E27FC236}">
                <a16:creationId xmlns:a16="http://schemas.microsoft.com/office/drawing/2014/main" id="{49F3ECF3-B327-4791-B588-9CAADF64BDA5}"/>
              </a:ext>
            </a:extLst>
          </p:cNvPr>
          <p:cNvGraphicFramePr>
            <a:graphicFrameLocks noGrp="1"/>
          </p:cNvGraphicFramePr>
          <p:nvPr>
            <p:extLst>
              <p:ext uri="{D42A27DB-BD31-4B8C-83A1-F6EECF244321}">
                <p14:modId xmlns:p14="http://schemas.microsoft.com/office/powerpoint/2010/main" val="469432434"/>
              </p:ext>
            </p:extLst>
          </p:nvPr>
        </p:nvGraphicFramePr>
        <p:xfrm>
          <a:off x="365760" y="2818015"/>
          <a:ext cx="10607040" cy="2939396"/>
        </p:xfrm>
        <a:graphic>
          <a:graphicData uri="http://schemas.openxmlformats.org/drawingml/2006/table">
            <a:tbl>
              <a:tblPr/>
              <a:tblGrid>
                <a:gridCol w="5303520">
                  <a:extLst>
                    <a:ext uri="{9D8B030D-6E8A-4147-A177-3AD203B41FA5}">
                      <a16:colId xmlns:a16="http://schemas.microsoft.com/office/drawing/2014/main" val="2578516681"/>
                    </a:ext>
                  </a:extLst>
                </a:gridCol>
                <a:gridCol w="5303520">
                  <a:extLst>
                    <a:ext uri="{9D8B030D-6E8A-4147-A177-3AD203B41FA5}">
                      <a16:colId xmlns:a16="http://schemas.microsoft.com/office/drawing/2014/main" val="3008461073"/>
                    </a:ext>
                  </a:extLst>
                </a:gridCol>
              </a:tblGrid>
              <a:tr h="402612">
                <a:tc>
                  <a:txBody>
                    <a:bodyPr/>
                    <a:lstStyle/>
                    <a:p>
                      <a:pPr algn="l"/>
                      <a:r>
                        <a:rPr lang="ar-SA" b="0">
                          <a:effectLst/>
                          <a:latin typeface="quote-cjk-patch"/>
                        </a:rPr>
                        <a:t>التعديل</a:t>
                      </a:r>
                    </a:p>
                  </a:txBody>
                  <a:tcPr marR="121920" marT="76200" marB="76200" anchor="ctr">
                    <a:lnL>
                      <a:noFill/>
                    </a:lnL>
                    <a:lnR>
                      <a:noFill/>
                    </a:lnR>
                    <a:lnT>
                      <a:noFill/>
                    </a:lnT>
                    <a:lnB>
                      <a:noFill/>
                    </a:lnB>
                  </a:tcPr>
                </a:tc>
                <a:tc>
                  <a:txBody>
                    <a:bodyPr/>
                    <a:lstStyle/>
                    <a:p>
                      <a:pPr algn="l"/>
                      <a:r>
                        <a:rPr lang="ar-SA" b="0" dirty="0">
                          <a:effectLst/>
                          <a:latin typeface="quote-cjk-patch"/>
                        </a:rPr>
                        <a:t>الشرح</a:t>
                      </a:r>
                    </a:p>
                  </a:txBody>
                  <a:tcPr marL="121920" marR="121920" marT="76200" marB="76200" anchor="ctr">
                    <a:lnL>
                      <a:noFill/>
                    </a:lnL>
                    <a:lnR>
                      <a:noFill/>
                    </a:lnR>
                    <a:lnT>
                      <a:noFill/>
                    </a:lnT>
                    <a:lnB>
                      <a:noFill/>
                    </a:lnB>
                  </a:tcPr>
                </a:tc>
                <a:extLst>
                  <a:ext uri="{0D108BD9-81ED-4DB2-BD59-A6C34878D82A}">
                    <a16:rowId xmlns:a16="http://schemas.microsoft.com/office/drawing/2014/main" val="2165293540"/>
                  </a:ext>
                </a:extLst>
              </a:tr>
              <a:tr h="765768">
                <a:tc>
                  <a:txBody>
                    <a:bodyPr/>
                    <a:lstStyle/>
                    <a:p>
                      <a:r>
                        <a:rPr lang="ar-SA" b="1">
                          <a:effectLst/>
                          <a:latin typeface="quote-cjk-patch"/>
                        </a:rPr>
                        <a:t>إضافة قيم الألوان</a:t>
                      </a:r>
                      <a:endParaRPr lang="ar-SA" b="0">
                        <a:effectLst/>
                        <a:latin typeface="quote-cjk-patch"/>
                      </a:endParaRPr>
                    </a:p>
                  </a:txBody>
                  <a:tcPr marR="121920" marT="76200" marB="76200" anchor="ctr">
                    <a:lnL>
                      <a:noFill/>
                    </a:lnL>
                    <a:lnR>
                      <a:noFill/>
                    </a:lnR>
                    <a:lnT>
                      <a:noFill/>
                    </a:lnT>
                    <a:lnB>
                      <a:noFill/>
                    </a:lnB>
                  </a:tcPr>
                </a:tc>
                <a:tc>
                  <a:txBody>
                    <a:bodyPr/>
                    <a:lstStyle/>
                    <a:p>
                      <a:r>
                        <a:rPr lang="ar-SA" b="0">
                          <a:effectLst/>
                          <a:latin typeface="quote-cjk-patch"/>
                        </a:rPr>
                        <a:t>كل رأس الآن يحمل 6 أرقام: 3 للموقع (</a:t>
                      </a:r>
                      <a:r>
                        <a:rPr lang="en-US" b="0">
                          <a:effectLst/>
                          <a:latin typeface="quote-cjk-patch"/>
                        </a:rPr>
                        <a:t>XYZ) </a:t>
                      </a:r>
                      <a:r>
                        <a:rPr lang="ar-SA" b="0">
                          <a:effectLst/>
                          <a:latin typeface="quote-cjk-patch"/>
                        </a:rPr>
                        <a:t>و3 للون (</a:t>
                      </a:r>
                      <a:r>
                        <a:rPr lang="en-US" b="0">
                          <a:effectLst/>
                          <a:latin typeface="quote-cjk-patch"/>
                        </a:rPr>
                        <a:t>RGB)</a:t>
                      </a:r>
                    </a:p>
                  </a:txBody>
                  <a:tcPr marL="121920" marT="76200" marB="76200" anchor="ctr">
                    <a:lnL>
                      <a:noFill/>
                    </a:lnL>
                    <a:lnR>
                      <a:noFill/>
                    </a:lnR>
                    <a:lnT>
                      <a:noFill/>
                    </a:lnT>
                    <a:lnB>
                      <a:noFill/>
                    </a:lnB>
                  </a:tcPr>
                </a:tc>
                <a:extLst>
                  <a:ext uri="{0D108BD9-81ED-4DB2-BD59-A6C34878D82A}">
                    <a16:rowId xmlns:a16="http://schemas.microsoft.com/office/drawing/2014/main" val="2859295778"/>
                  </a:ext>
                </a:extLst>
              </a:tr>
              <a:tr h="765768">
                <a:tc>
                  <a:txBody>
                    <a:bodyPr/>
                    <a:lstStyle/>
                    <a:p>
                      <a:r>
                        <a:rPr lang="ar-SA" b="1">
                          <a:effectLst/>
                          <a:latin typeface="quote-cjk-patch"/>
                        </a:rPr>
                        <a:t>العيون الدائرية</a:t>
                      </a:r>
                      <a:endParaRPr lang="ar-SA" b="0">
                        <a:effectLst/>
                        <a:latin typeface="quote-cjk-patch"/>
                      </a:endParaRPr>
                    </a:p>
                  </a:txBody>
                  <a:tcPr marR="121920" marT="76200" marB="76200" anchor="ctr">
                    <a:lnL>
                      <a:noFill/>
                    </a:lnL>
                    <a:lnR>
                      <a:noFill/>
                    </a:lnR>
                    <a:lnT>
                      <a:noFill/>
                    </a:lnT>
                    <a:lnB>
                      <a:noFill/>
                    </a:lnB>
                  </a:tcPr>
                </a:tc>
                <a:tc>
                  <a:txBody>
                    <a:bodyPr/>
                    <a:lstStyle/>
                    <a:p>
                      <a:r>
                        <a:rPr lang="ar-SA" b="0">
                          <a:effectLst/>
                          <a:latin typeface="quote-cjk-patch"/>
                        </a:rPr>
                        <a:t>كل عين مكونة من </a:t>
                      </a:r>
                      <a:r>
                        <a:rPr lang="ar-SA" b="1">
                          <a:effectLst/>
                          <a:latin typeface="quote-cjk-patch"/>
                        </a:rPr>
                        <a:t>12 مثلث</a:t>
                      </a:r>
                      <a:r>
                        <a:rPr lang="ar-SA" b="0">
                          <a:effectLst/>
                          <a:latin typeface="quote-cjk-patch"/>
                        </a:rPr>
                        <a:t> (36 رأس) لتكوين شكل دائري</a:t>
                      </a:r>
                    </a:p>
                  </a:txBody>
                  <a:tcPr marL="121920" marT="76200" marB="76200" anchor="ctr">
                    <a:lnL>
                      <a:noFill/>
                    </a:lnL>
                    <a:lnR>
                      <a:noFill/>
                    </a:lnR>
                    <a:lnT>
                      <a:noFill/>
                    </a:lnT>
                    <a:lnB>
                      <a:noFill/>
                    </a:lnB>
                  </a:tcPr>
                </a:tc>
                <a:extLst>
                  <a:ext uri="{0D108BD9-81ED-4DB2-BD59-A6C34878D82A}">
                    <a16:rowId xmlns:a16="http://schemas.microsoft.com/office/drawing/2014/main" val="1634498224"/>
                  </a:ext>
                </a:extLst>
              </a:tr>
              <a:tr h="981140">
                <a:tc>
                  <a:txBody>
                    <a:bodyPr/>
                    <a:lstStyle/>
                    <a:p>
                      <a:r>
                        <a:rPr lang="ar-SA" b="1">
                          <a:effectLst/>
                          <a:latin typeface="quote-cjk-patch"/>
                        </a:rPr>
                        <a:t>تحديد </a:t>
                      </a:r>
                      <a:r>
                        <a:rPr lang="en-US" b="1">
                          <a:effectLst/>
                          <a:latin typeface="quote-cjk-patch"/>
                        </a:rPr>
                        <a:t>Z </a:t>
                      </a:r>
                      <a:r>
                        <a:rPr lang="ar-SA" b="1">
                          <a:effectLst/>
                          <a:latin typeface="quote-cjk-patch"/>
                        </a:rPr>
                        <a:t>لكل جزء</a:t>
                      </a:r>
                      <a:endParaRPr lang="ar-SA" b="0">
                        <a:effectLst/>
                        <a:latin typeface="quote-cjk-patch"/>
                      </a:endParaRPr>
                    </a:p>
                  </a:txBody>
                  <a:tcPr marR="121920" marT="76200" marB="76200" anchor="ctr">
                    <a:lnL>
                      <a:noFill/>
                    </a:lnL>
                    <a:lnR>
                      <a:noFill/>
                    </a:lnR>
                    <a:lnT>
                      <a:noFill/>
                    </a:lnT>
                    <a:lnB>
                      <a:noFill/>
                    </a:lnB>
                  </a:tcPr>
                </a:tc>
                <a:tc>
                  <a:txBody>
                    <a:bodyPr/>
                    <a:lstStyle/>
                    <a:p>
                      <a:r>
                        <a:rPr lang="ar-SA" b="0" dirty="0">
                          <a:effectLst/>
                          <a:latin typeface="quote-cjk-patch"/>
                        </a:rPr>
                        <a:t>الرأس </a:t>
                      </a:r>
                      <a:r>
                        <a:rPr lang="en-US" b="0" dirty="0">
                          <a:effectLst/>
                          <a:latin typeface="quote-cjk-patch"/>
                        </a:rPr>
                        <a:t>Z=0.0 (</a:t>
                      </a:r>
                      <a:r>
                        <a:rPr lang="ar-SA" b="0" dirty="0">
                          <a:effectLst/>
                          <a:latin typeface="quote-cjk-patch"/>
                        </a:rPr>
                        <a:t>أبعد)، الفم </a:t>
                      </a:r>
                      <a:r>
                        <a:rPr lang="en-US" b="0" dirty="0">
                          <a:effectLst/>
                          <a:latin typeface="quote-cjk-patch"/>
                        </a:rPr>
                        <a:t>Z=-0.05، </a:t>
                      </a:r>
                      <a:r>
                        <a:rPr lang="ar-SA" b="0" dirty="0">
                          <a:effectLst/>
                          <a:latin typeface="quote-cjk-patch"/>
                        </a:rPr>
                        <a:t>العيون </a:t>
                      </a:r>
                      <a:r>
                        <a:rPr lang="en-US" b="0" dirty="0">
                          <a:effectLst/>
                          <a:latin typeface="quote-cjk-patch"/>
                        </a:rPr>
                        <a:t>Z=-0.1، </a:t>
                      </a:r>
                      <a:r>
                        <a:rPr lang="ar-SA" b="0" dirty="0">
                          <a:effectLst/>
                          <a:latin typeface="quote-cjk-patch"/>
                        </a:rPr>
                        <a:t>الهوائي </a:t>
                      </a:r>
                      <a:r>
                        <a:rPr lang="en-US" b="0" dirty="0">
                          <a:effectLst/>
                          <a:latin typeface="quote-cjk-patch"/>
                        </a:rPr>
                        <a:t>Z=-0.2 (</a:t>
                      </a:r>
                      <a:r>
                        <a:rPr lang="ar-SA" b="0" dirty="0">
                          <a:effectLst/>
                          <a:latin typeface="quote-cjk-patch"/>
                        </a:rPr>
                        <a:t>أقرب)</a:t>
                      </a:r>
                    </a:p>
                  </a:txBody>
                  <a:tcPr marL="121920" marT="76200" marB="76200" anchor="ctr">
                    <a:lnL>
                      <a:noFill/>
                    </a:lnL>
                    <a:lnR>
                      <a:noFill/>
                    </a:lnR>
                    <a:lnT>
                      <a:noFill/>
                    </a:lnT>
                    <a:lnB>
                      <a:noFill/>
                    </a:lnB>
                  </a:tcPr>
                </a:tc>
                <a:extLst>
                  <a:ext uri="{0D108BD9-81ED-4DB2-BD59-A6C34878D82A}">
                    <a16:rowId xmlns:a16="http://schemas.microsoft.com/office/drawing/2014/main" val="921768284"/>
                  </a:ext>
                </a:extLst>
              </a:tr>
            </a:tbl>
          </a:graphicData>
        </a:graphic>
      </p:graphicFrame>
      <p:sp>
        <p:nvSpPr>
          <p:cNvPr id="6" name="Rectangle 2">
            <a:extLst>
              <a:ext uri="{FF2B5EF4-FFF2-40B4-BE49-F238E27FC236}">
                <a16:creationId xmlns:a16="http://schemas.microsoft.com/office/drawing/2014/main" id="{CBB0495F-2221-40A7-ACD8-0685365E3083}"/>
              </a:ext>
            </a:extLst>
          </p:cNvPr>
          <p:cNvSpPr>
            <a:spLocks noChangeArrowheads="1"/>
          </p:cNvSpPr>
          <p:nvPr/>
        </p:nvSpPr>
        <p:spPr bwMode="auto">
          <a:xfrm>
            <a:off x="5536276" y="5540587"/>
            <a:ext cx="5114791" cy="646331"/>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SA" altLang="en-US" sz="1200" b="1" i="0" u="none" strike="noStrike" cap="none" normalizeH="0" baseline="0" dirty="0">
                <a:ln>
                  <a:noFill/>
                </a:ln>
                <a:solidFill>
                  <a:srgbClr val="F9FAFB"/>
                </a:solidFill>
                <a:effectLst/>
                <a:latin typeface="quote-cjk-patch"/>
                <a:cs typeface="Arial" panose="020B0604020202020204" pitchFamily="34" charset="0"/>
              </a:rPr>
              <a:t>سؤال متوقع</a:t>
            </a:r>
            <a:r>
              <a:rPr kumimoji="0" lang="en-US" altLang="en-US" sz="1200" b="1" i="0" u="none" strike="noStrike" cap="none" normalizeH="0" baseline="0" dirty="0">
                <a:ln>
                  <a:noFill/>
                </a:ln>
                <a:solidFill>
                  <a:srgbClr val="F9FAFB"/>
                </a:solidFill>
                <a:effectLst/>
                <a:latin typeface="quote-cjk-patch"/>
                <a:cs typeface="Arial" panose="020B0604020202020204" pitchFamily="34" charset="0"/>
              </a:rPr>
              <a:t>:</a:t>
            </a:r>
            <a:r>
              <a:rPr kumimoji="0" lang="en-US" altLang="en-US" sz="1200" b="0" i="0" u="none" strike="noStrike" cap="none" normalizeH="0" baseline="0" dirty="0">
                <a:ln>
                  <a:noFill/>
                </a:ln>
                <a:solidFill>
                  <a:srgbClr val="F9FAFB"/>
                </a:solidFill>
                <a:effectLst/>
                <a:latin typeface="quote-cjk-patch"/>
              </a:rPr>
              <a:t>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ليه اخترت قيم</a:t>
            </a:r>
            <a:r>
              <a:rPr kumimoji="0" lang="en-US" altLang="en-US" sz="1200" b="0" i="0" u="none" strike="noStrike" cap="none" normalizeH="0" baseline="0" dirty="0">
                <a:ln>
                  <a:noFill/>
                </a:ln>
                <a:solidFill>
                  <a:srgbClr val="F9FAFB"/>
                </a:solidFill>
                <a:effectLst/>
                <a:latin typeface="quote-cjk-patch"/>
                <a:cs typeface="Arial" panose="020B0604020202020204" pitchFamily="34" charset="0"/>
              </a:rPr>
              <a:t> Z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مختلفة؟</a:t>
            </a:r>
            <a:br>
              <a:rPr kumimoji="0" lang="en-US" altLang="en-US" sz="1200" b="0" i="0" u="none" strike="noStrike" cap="none" normalizeH="0" baseline="0" dirty="0">
                <a:ln>
                  <a:noFill/>
                </a:ln>
                <a:solidFill>
                  <a:srgbClr val="F9FAFB"/>
                </a:solidFill>
                <a:effectLst/>
                <a:latin typeface="quote-cjk-patch"/>
              </a:rPr>
            </a:br>
            <a:r>
              <a:rPr kumimoji="0" lang="ar-SA" altLang="en-US" sz="1200" b="1" i="0" u="none" strike="noStrike" cap="none" normalizeH="0" baseline="0" dirty="0">
                <a:ln>
                  <a:noFill/>
                </a:ln>
                <a:solidFill>
                  <a:srgbClr val="F9FAFB"/>
                </a:solidFill>
                <a:effectLst/>
                <a:latin typeface="quote-cjk-patch"/>
                <a:cs typeface="Arial" panose="020B0604020202020204" pitchFamily="34" charset="0"/>
              </a:rPr>
              <a:t>الجواب</a:t>
            </a:r>
            <a:r>
              <a:rPr kumimoji="0" lang="en-US" altLang="en-US" sz="1200" b="1" i="0" u="none" strike="noStrike" cap="none" normalizeH="0" baseline="0" dirty="0">
                <a:ln>
                  <a:noFill/>
                </a:ln>
                <a:solidFill>
                  <a:srgbClr val="F9FAFB"/>
                </a:solidFill>
                <a:effectLst/>
                <a:latin typeface="quote-cjk-patch"/>
                <a:cs typeface="Arial" panose="020B0604020202020204" pitchFamily="34" charset="0"/>
              </a:rPr>
              <a:t>:</a:t>
            </a:r>
            <a:r>
              <a:rPr kumimoji="0" lang="en-US" altLang="en-US" sz="1200" b="0" i="0" u="none" strike="noStrike" cap="none" normalizeH="0" baseline="0" dirty="0">
                <a:ln>
                  <a:noFill/>
                </a:ln>
                <a:solidFill>
                  <a:srgbClr val="F9FAFB"/>
                </a:solidFill>
                <a:effectLst/>
                <a:latin typeface="quote-cjk-patch"/>
              </a:rPr>
              <a:t>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عشان اختبار العمق</a:t>
            </a:r>
            <a:r>
              <a:rPr kumimoji="0" lang="en-US" altLang="en-US" sz="1200" b="0" i="0" u="none" strike="noStrike" cap="none" normalizeH="0" baseline="0" dirty="0">
                <a:ln>
                  <a:noFill/>
                </a:ln>
                <a:solidFill>
                  <a:srgbClr val="F9FAFB"/>
                </a:solidFill>
                <a:effectLst/>
                <a:latin typeface="quote-cjk-patch"/>
                <a:cs typeface="Arial" panose="020B0604020202020204" pitchFamily="34" charset="0"/>
              </a:rPr>
              <a:t> (Depth Test)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يرتب الأجزاء صح. الأجزاء الأقرب</a:t>
            </a:r>
            <a:r>
              <a:rPr kumimoji="0" lang="en-US" altLang="en-US" sz="1200" b="0" i="0" u="none" strike="noStrike" cap="none" normalizeH="0" baseline="0" dirty="0">
                <a:ln>
                  <a:noFill/>
                </a:ln>
                <a:solidFill>
                  <a:srgbClr val="F9FAFB"/>
                </a:solidFill>
                <a:effectLst/>
                <a:latin typeface="quote-cjk-patch"/>
                <a:cs typeface="Arial" panose="020B0604020202020204" pitchFamily="34" charset="0"/>
              </a:rPr>
              <a:t> (Z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أصغر</a:t>
            </a:r>
            <a:r>
              <a:rPr kumimoji="0" lang="en-US" altLang="en-US" sz="1200" b="0" i="0" u="none" strike="noStrike" cap="none" normalizeH="0" baseline="0" dirty="0">
                <a:ln>
                  <a:noFill/>
                </a:ln>
                <a:solidFill>
                  <a:srgbClr val="F9FAFB"/>
                </a:solidFill>
                <a:effectLst/>
                <a:latin typeface="quote-cjk-patch"/>
                <a:cs typeface="Arial" panose="020B0604020202020204" pitchFamily="34" charset="0"/>
              </a:rPr>
              <a:t>) </a:t>
            </a:r>
            <a:r>
              <a:rPr kumimoji="0" lang="ar-SA" altLang="en-US" sz="1200" b="0" i="0" u="none" strike="noStrike" cap="none" normalizeH="0" baseline="0" dirty="0">
                <a:ln>
                  <a:noFill/>
                </a:ln>
                <a:solidFill>
                  <a:srgbClr val="F9FAFB"/>
                </a:solidFill>
                <a:effectLst/>
                <a:latin typeface="quote-cjk-patch"/>
                <a:cs typeface="Arial" panose="020B0604020202020204" pitchFamily="34" charset="0"/>
              </a:rPr>
              <a:t>تظهر قدام الأبعد</a:t>
            </a:r>
            <a:r>
              <a:rPr kumimoji="0" lang="en-US" altLang="en-US" sz="1200" b="0" i="0" u="none" strike="noStrike" cap="none" normalizeH="0" baseline="0" dirty="0">
                <a:ln>
                  <a:noFill/>
                </a:ln>
                <a:solidFill>
                  <a:srgbClr val="F9FAFB"/>
                </a:solidFill>
                <a:effectLst/>
                <a:latin typeface="quote-cjk-patch"/>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213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DC88-B952-40B4-90E2-C85751FAB7E0}"/>
              </a:ext>
            </a:extLst>
          </p:cNvPr>
          <p:cNvSpPr>
            <a:spLocks noGrp="1"/>
          </p:cNvSpPr>
          <p:nvPr>
            <p:ph type="title"/>
          </p:nvPr>
        </p:nvSpPr>
        <p:spPr/>
        <p:txBody>
          <a:bodyPr/>
          <a:lstStyle/>
          <a:p>
            <a:r>
              <a:rPr lang="en-US" b="1" dirty="0">
                <a:effectLst/>
                <a:latin typeface="quote-cjk-patch"/>
              </a:rPr>
              <a:t>Shaders (</a:t>
            </a:r>
            <a:r>
              <a:rPr lang="ar-SA" b="1" dirty="0">
                <a:effectLst/>
                <a:latin typeface="quote-cjk-patch"/>
              </a:rPr>
              <a:t>برامج الرسم)</a:t>
            </a:r>
            <a:br>
              <a:rPr lang="ar-SA" b="1" dirty="0">
                <a:effectLst/>
                <a:latin typeface="quote-cjk-patch"/>
              </a:rPr>
            </a:br>
            <a:endParaRPr lang="en-US" dirty="0"/>
          </a:p>
        </p:txBody>
      </p:sp>
      <p:sp>
        <p:nvSpPr>
          <p:cNvPr id="3" name="Content Placeholder 2">
            <a:extLst>
              <a:ext uri="{FF2B5EF4-FFF2-40B4-BE49-F238E27FC236}">
                <a16:creationId xmlns:a16="http://schemas.microsoft.com/office/drawing/2014/main" id="{A2860E52-46EE-409D-BC4A-619D4E8400CC}"/>
              </a:ext>
            </a:extLst>
          </p:cNvPr>
          <p:cNvSpPr>
            <a:spLocks noGrp="1"/>
          </p:cNvSpPr>
          <p:nvPr>
            <p:ph idx="1"/>
          </p:nvPr>
        </p:nvSpPr>
        <p:spPr/>
        <p:txBody>
          <a:bodyPr/>
          <a:lstStyle/>
          <a:p>
            <a:r>
              <a:rPr lang="en-US" dirty="0"/>
              <a:t>our Color = </a:t>
            </a:r>
            <a:r>
              <a:rPr lang="en-US" dirty="0" err="1"/>
              <a:t>aColor</a:t>
            </a:r>
            <a:r>
              <a:rPr lang="en-US" dirty="0"/>
              <a:t> * (0.7 + 0.3 * sin(</a:t>
            </a:r>
            <a:r>
              <a:rPr lang="en-US" dirty="0" err="1"/>
              <a:t>uTime</a:t>
            </a:r>
            <a:r>
              <a:rPr lang="en-US" dirty="0"/>
              <a:t> * 3.0)); </a:t>
            </a:r>
            <a:r>
              <a:rPr lang="ar-SA" b="1" dirty="0">
                <a:effectLst/>
                <a:latin typeface="quote-cjk-patch"/>
              </a:rPr>
              <a:t> للعيون (مع تأثير الوقت)</a:t>
            </a:r>
          </a:p>
          <a:p>
            <a:endParaRPr lang="en-US" dirty="0"/>
          </a:p>
          <a:p>
            <a:r>
              <a:rPr lang="en-US" dirty="0"/>
              <a:t>float </a:t>
            </a:r>
            <a:r>
              <a:rPr lang="en-US" dirty="0" err="1"/>
              <a:t>smileAmount</a:t>
            </a:r>
            <a:r>
              <a:rPr lang="en-US" dirty="0"/>
              <a:t> = sin(</a:t>
            </a:r>
            <a:r>
              <a:rPr lang="en-US" dirty="0" err="1"/>
              <a:t>uTime</a:t>
            </a:r>
            <a:r>
              <a:rPr lang="en-US" dirty="0"/>
              <a:t> * 2.0) * 0.2;</a:t>
            </a:r>
            <a:r>
              <a:rPr lang="ar-SA" b="1" dirty="0">
                <a:effectLst/>
                <a:latin typeface="quote-cjk-patch"/>
              </a:rPr>
              <a:t> للفم المتحرك</a:t>
            </a:r>
            <a:endParaRPr lang="en-US" dirty="0"/>
          </a:p>
          <a:p>
            <a:r>
              <a:rPr lang="en-US" dirty="0"/>
              <a:t>if (</a:t>
            </a:r>
            <a:r>
              <a:rPr lang="en-US" dirty="0" err="1"/>
              <a:t>aPos.x</a:t>
            </a:r>
            <a:r>
              <a:rPr lang="en-US" dirty="0"/>
              <a:t> &gt; 0.4) </a:t>
            </a:r>
            <a:r>
              <a:rPr lang="en-US" dirty="0" err="1"/>
              <a:t>newPos.x</a:t>
            </a:r>
            <a:r>
              <a:rPr lang="en-US" dirty="0"/>
              <a:t> = </a:t>
            </a:r>
            <a:r>
              <a:rPr lang="en-US" dirty="0" err="1"/>
              <a:t>aPos.x</a:t>
            </a:r>
            <a:r>
              <a:rPr lang="en-US" dirty="0"/>
              <a:t> + </a:t>
            </a:r>
            <a:r>
              <a:rPr lang="en-US" dirty="0" err="1"/>
              <a:t>smileAmount</a:t>
            </a:r>
            <a:r>
              <a:rPr lang="en-US" dirty="0"/>
              <a:t>;  // </a:t>
            </a:r>
            <a:r>
              <a:rPr lang="ar-SA" dirty="0"/>
              <a:t>الطرف اليمين</a:t>
            </a:r>
          </a:p>
          <a:p>
            <a:r>
              <a:rPr lang="en-US" dirty="0"/>
              <a:t>else if (</a:t>
            </a:r>
            <a:r>
              <a:rPr lang="en-US" dirty="0" err="1"/>
              <a:t>aPos.x</a:t>
            </a:r>
            <a:r>
              <a:rPr lang="en-US" dirty="0"/>
              <a:t> &lt; -0.4) </a:t>
            </a:r>
            <a:r>
              <a:rPr lang="en-US" dirty="0" err="1"/>
              <a:t>newPos.x</a:t>
            </a:r>
            <a:r>
              <a:rPr lang="en-US" dirty="0"/>
              <a:t> = </a:t>
            </a:r>
            <a:r>
              <a:rPr lang="en-US" dirty="0" err="1"/>
              <a:t>aPos.x</a:t>
            </a:r>
            <a:r>
              <a:rPr lang="en-US" dirty="0"/>
              <a:t> - </a:t>
            </a:r>
            <a:r>
              <a:rPr lang="en-US" dirty="0" err="1"/>
              <a:t>smileAmount</a:t>
            </a:r>
            <a:r>
              <a:rPr lang="en-US" dirty="0"/>
              <a:t>;  // </a:t>
            </a:r>
            <a:r>
              <a:rPr lang="ar-SA" dirty="0"/>
              <a:t>الطرف اليسار</a:t>
            </a:r>
            <a:endParaRPr lang="en-US" dirty="0"/>
          </a:p>
          <a:p>
            <a:r>
              <a:rPr lang="en-US" dirty="0" err="1"/>
              <a:t>ourColor</a:t>
            </a:r>
            <a:r>
              <a:rPr lang="en-US" dirty="0"/>
              <a:t> = </a:t>
            </a:r>
            <a:r>
              <a:rPr lang="en-US" dirty="0" err="1"/>
              <a:t>aColor</a:t>
            </a:r>
            <a:r>
              <a:rPr lang="en-US" dirty="0"/>
              <a:t>;  // </a:t>
            </a:r>
            <a:r>
              <a:rPr lang="ar-SA" dirty="0"/>
              <a:t>لون ثابت بدون تغيير</a:t>
            </a:r>
            <a:endParaRPr lang="en-US" dirty="0"/>
          </a:p>
          <a:p>
            <a:r>
              <a:rPr lang="en-US" dirty="0" err="1"/>
              <a:t>FragColor</a:t>
            </a:r>
            <a:r>
              <a:rPr lang="en-US" dirty="0"/>
              <a:t> = vec4(</a:t>
            </a:r>
            <a:r>
              <a:rPr lang="en-US" dirty="0" err="1"/>
              <a:t>ourColor</a:t>
            </a:r>
            <a:r>
              <a:rPr lang="en-US" dirty="0"/>
              <a:t>, </a:t>
            </a:r>
            <a:r>
              <a:rPr lang="en-US" dirty="0" err="1"/>
              <a:t>uAlpha</a:t>
            </a:r>
            <a:r>
              <a:rPr lang="en-US" dirty="0"/>
              <a:t>);  // </a:t>
            </a:r>
            <a:r>
              <a:rPr lang="ar-SA" dirty="0"/>
              <a:t>تطبيق الشفافية</a:t>
            </a:r>
            <a:endParaRPr lang="en-US" dirty="0"/>
          </a:p>
        </p:txBody>
      </p:sp>
    </p:spTree>
    <p:extLst>
      <p:ext uri="{BB962C8B-B14F-4D97-AF65-F5344CB8AC3E}">
        <p14:creationId xmlns:p14="http://schemas.microsoft.com/office/powerpoint/2010/main" val="3090774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3298A-4886-461B-9882-AB8976B98875}"/>
              </a:ext>
            </a:extLst>
          </p:cNvPr>
          <p:cNvSpPr>
            <a:spLocks noGrp="1"/>
          </p:cNvSpPr>
          <p:nvPr>
            <p:ph type="title"/>
          </p:nvPr>
        </p:nvSpPr>
        <p:spPr>
          <a:xfrm>
            <a:off x="331124" y="456565"/>
            <a:ext cx="10515600" cy="1325563"/>
          </a:xfrm>
        </p:spPr>
        <p:txBody>
          <a:bodyPr/>
          <a:lstStyle/>
          <a:p>
            <a:r>
              <a:rPr lang="ar-SA" b="1" dirty="0">
                <a:effectLst/>
                <a:latin typeface="quote-cjk-patch"/>
              </a:rPr>
              <a:t>برامج الشيدر المتعددة</a:t>
            </a:r>
            <a:br>
              <a:rPr lang="ar-SA" b="1" dirty="0">
                <a:effectLst/>
                <a:latin typeface="quote-cjk-patch"/>
              </a:rPr>
            </a:br>
            <a:endParaRPr lang="en-US" dirty="0"/>
          </a:p>
        </p:txBody>
      </p:sp>
      <p:sp>
        <p:nvSpPr>
          <p:cNvPr id="3" name="Content Placeholder 2">
            <a:extLst>
              <a:ext uri="{FF2B5EF4-FFF2-40B4-BE49-F238E27FC236}">
                <a16:creationId xmlns:a16="http://schemas.microsoft.com/office/drawing/2014/main" id="{F4C713AF-36E4-417D-9962-0FF13BC1EC40}"/>
              </a:ext>
            </a:extLst>
          </p:cNvPr>
          <p:cNvSpPr>
            <a:spLocks noGrp="1"/>
          </p:cNvSpPr>
          <p:nvPr>
            <p:ph idx="1"/>
          </p:nvPr>
        </p:nvSpPr>
        <p:spPr>
          <a:xfrm>
            <a:off x="331124" y="1917065"/>
            <a:ext cx="10515600" cy="4351338"/>
          </a:xfrm>
        </p:spPr>
        <p:txBody>
          <a:bodyPr/>
          <a:lstStyle/>
          <a:p>
            <a:r>
              <a:rPr lang="ar-SA" dirty="0"/>
              <a:t>// ثلاثة برامج مختلفة</a:t>
            </a:r>
          </a:p>
          <a:p>
            <a:r>
              <a:rPr lang="en-US" dirty="0"/>
              <a:t>unsigned int </a:t>
            </a:r>
            <a:r>
              <a:rPr lang="en-US" dirty="0" err="1"/>
              <a:t>shaderProgram_WithTime</a:t>
            </a:r>
            <a:r>
              <a:rPr lang="en-US" dirty="0"/>
              <a:t>;  // </a:t>
            </a:r>
            <a:r>
              <a:rPr lang="ar-SA" dirty="0"/>
              <a:t>للعيون</a:t>
            </a:r>
          </a:p>
          <a:p>
            <a:r>
              <a:rPr lang="en-US" dirty="0"/>
              <a:t>unsigned int </a:t>
            </a:r>
            <a:r>
              <a:rPr lang="en-US" dirty="0" err="1"/>
              <a:t>shaderProgram_Mouth</a:t>
            </a:r>
            <a:r>
              <a:rPr lang="en-US" dirty="0"/>
              <a:t>;     // </a:t>
            </a:r>
            <a:r>
              <a:rPr lang="ar-SA" dirty="0"/>
              <a:t>للفم المتحرك</a:t>
            </a:r>
          </a:p>
          <a:p>
            <a:r>
              <a:rPr lang="en-US" dirty="0"/>
              <a:t>unsigned int </a:t>
            </a:r>
            <a:r>
              <a:rPr lang="en-US" dirty="0" err="1"/>
              <a:t>shaderProgram_Static</a:t>
            </a:r>
            <a:r>
              <a:rPr lang="en-US" dirty="0"/>
              <a:t>;    // </a:t>
            </a:r>
            <a:r>
              <a:rPr lang="ar-SA" dirty="0"/>
              <a:t>للأجزاء الثابتة</a:t>
            </a:r>
            <a:endParaRPr lang="en-US" dirty="0"/>
          </a:p>
          <a:p>
            <a:r>
              <a:rPr lang="ar-SA" b="0" i="0" dirty="0">
                <a:solidFill>
                  <a:srgbClr val="F9FAFB"/>
                </a:solidFill>
                <a:effectLst/>
                <a:latin typeface="quote-cjk-patch"/>
              </a:rPr>
              <a:t>ل</a:t>
            </a:r>
            <a:r>
              <a:rPr lang="ar-SA" b="0" i="0" dirty="0">
                <a:effectLst/>
                <a:latin typeface="quote-cjk-patch"/>
              </a:rPr>
              <a:t>أن كل جزء يحتاج سلوك مختلف. العيون تحتاج تغير لون، الفم يحتاج تغير موقع، الرأس يحتاج يبقى ثابت. باستخدام برامج منفصلة، نقدر نتحكم بكل جزء باستقلالية.</a:t>
            </a:r>
            <a:br>
              <a:rPr lang="ar-SA" dirty="0"/>
            </a:br>
            <a:endParaRPr lang="en-US" dirty="0"/>
          </a:p>
          <a:p>
            <a:endParaRPr lang="en-US" dirty="0"/>
          </a:p>
        </p:txBody>
      </p:sp>
      <p:graphicFrame>
        <p:nvGraphicFramePr>
          <p:cNvPr id="4" name="Table 3">
            <a:extLst>
              <a:ext uri="{FF2B5EF4-FFF2-40B4-BE49-F238E27FC236}">
                <a16:creationId xmlns:a16="http://schemas.microsoft.com/office/drawing/2014/main" id="{07B9C700-7E56-4469-808F-F4FCAC41E654}"/>
              </a:ext>
            </a:extLst>
          </p:cNvPr>
          <p:cNvGraphicFramePr>
            <a:graphicFrameLocks noGrp="1"/>
          </p:cNvGraphicFramePr>
          <p:nvPr>
            <p:extLst>
              <p:ext uri="{D42A27DB-BD31-4B8C-83A1-F6EECF244321}">
                <p14:modId xmlns:p14="http://schemas.microsoft.com/office/powerpoint/2010/main" val="3628669763"/>
              </p:ext>
            </p:extLst>
          </p:nvPr>
        </p:nvGraphicFramePr>
        <p:xfrm>
          <a:off x="331124" y="4902662"/>
          <a:ext cx="7696200" cy="1706880"/>
        </p:xfrm>
        <a:graphic>
          <a:graphicData uri="http://schemas.openxmlformats.org/drawingml/2006/table">
            <a:tbl>
              <a:tblPr/>
              <a:tblGrid>
                <a:gridCol w="2565400">
                  <a:extLst>
                    <a:ext uri="{9D8B030D-6E8A-4147-A177-3AD203B41FA5}">
                      <a16:colId xmlns:a16="http://schemas.microsoft.com/office/drawing/2014/main" val="2019283039"/>
                    </a:ext>
                  </a:extLst>
                </a:gridCol>
                <a:gridCol w="2565400">
                  <a:extLst>
                    <a:ext uri="{9D8B030D-6E8A-4147-A177-3AD203B41FA5}">
                      <a16:colId xmlns:a16="http://schemas.microsoft.com/office/drawing/2014/main" val="827521033"/>
                    </a:ext>
                  </a:extLst>
                </a:gridCol>
                <a:gridCol w="2565400">
                  <a:extLst>
                    <a:ext uri="{9D8B030D-6E8A-4147-A177-3AD203B41FA5}">
                      <a16:colId xmlns:a16="http://schemas.microsoft.com/office/drawing/2014/main" val="1122085866"/>
                    </a:ext>
                  </a:extLst>
                </a:gridCol>
              </a:tblGrid>
              <a:tr h="0">
                <a:tc>
                  <a:txBody>
                    <a:bodyPr/>
                    <a:lstStyle/>
                    <a:p>
                      <a:pPr algn="l"/>
                      <a:r>
                        <a:rPr lang="ar-SA" b="0" dirty="0">
                          <a:effectLst/>
                          <a:latin typeface="quote-cjk-patch"/>
                        </a:rPr>
                        <a:t>البرنامج</a:t>
                      </a:r>
                    </a:p>
                  </a:txBody>
                  <a:tcPr marR="121920" marT="76200" marB="76200" anchor="ctr">
                    <a:lnL>
                      <a:noFill/>
                    </a:lnL>
                    <a:lnR>
                      <a:noFill/>
                    </a:lnR>
                    <a:lnT>
                      <a:noFill/>
                    </a:lnT>
                    <a:lnB>
                      <a:noFill/>
                    </a:lnB>
                    <a:solidFill>
                      <a:schemeClr val="accent1">
                        <a:lumMod val="60000"/>
                        <a:lumOff val="40000"/>
                      </a:schemeClr>
                    </a:solidFill>
                  </a:tcPr>
                </a:tc>
                <a:tc>
                  <a:txBody>
                    <a:bodyPr/>
                    <a:lstStyle/>
                    <a:p>
                      <a:pPr algn="l"/>
                      <a:r>
                        <a:rPr lang="ar-SA" b="0" dirty="0">
                          <a:effectLst/>
                          <a:latin typeface="quote-cjk-patch"/>
                        </a:rPr>
                        <a:t>الأجزاء المستخدمة فيه</a:t>
                      </a:r>
                    </a:p>
                  </a:txBody>
                  <a:tcPr marL="121920" marR="121920" marT="76200" marB="76200" anchor="ctr">
                    <a:lnL>
                      <a:noFill/>
                    </a:lnL>
                    <a:lnR>
                      <a:noFill/>
                    </a:lnR>
                    <a:lnT>
                      <a:noFill/>
                    </a:lnT>
                    <a:lnB>
                      <a:noFill/>
                    </a:lnB>
                    <a:solidFill>
                      <a:schemeClr val="accent1">
                        <a:lumMod val="60000"/>
                        <a:lumOff val="40000"/>
                      </a:schemeClr>
                    </a:solidFill>
                  </a:tcPr>
                </a:tc>
                <a:tc>
                  <a:txBody>
                    <a:bodyPr/>
                    <a:lstStyle/>
                    <a:p>
                      <a:pPr algn="l"/>
                      <a:r>
                        <a:rPr lang="ar-SA" b="0" dirty="0">
                          <a:effectLst/>
                          <a:latin typeface="quote-cjk-patch"/>
                        </a:rPr>
                        <a:t>السبب</a:t>
                      </a:r>
                    </a:p>
                  </a:txBody>
                  <a:tcPr marL="121920" marR="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550430754"/>
                  </a:ext>
                </a:extLst>
              </a:tr>
              <a:tr h="290946">
                <a:tc>
                  <a:txBody>
                    <a:bodyPr/>
                    <a:lstStyle/>
                    <a:p>
                      <a:r>
                        <a:rPr lang="en-US" b="1" dirty="0" err="1">
                          <a:effectLst/>
                          <a:latin typeface="quote-cjk-patch"/>
                        </a:rPr>
                        <a:t>WithTime</a:t>
                      </a:r>
                      <a:endParaRPr lang="en-US"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العين اليسرى واليمنى</a:t>
                      </a:r>
                    </a:p>
                  </a:txBody>
                  <a:tcPr marL="121920"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لأننا نبيها تومض مع الوقت</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3593884970"/>
                  </a:ext>
                </a:extLst>
              </a:tr>
              <a:tr h="290946">
                <a:tc>
                  <a:txBody>
                    <a:bodyPr/>
                    <a:lstStyle/>
                    <a:p>
                      <a:r>
                        <a:rPr lang="en-US" b="1" dirty="0">
                          <a:effectLst/>
                          <a:latin typeface="quote-cjk-patch"/>
                        </a:rPr>
                        <a:t>Mouth</a:t>
                      </a:r>
                      <a:endParaRPr lang="en-US"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الفم</a:t>
                      </a:r>
                    </a:p>
                  </a:txBody>
                  <a:tcPr marL="121920"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لأننا نبي الفم يتحرك ويومض</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773544065"/>
                  </a:ext>
                </a:extLst>
              </a:tr>
              <a:tr h="290946">
                <a:tc>
                  <a:txBody>
                    <a:bodyPr/>
                    <a:lstStyle/>
                    <a:p>
                      <a:r>
                        <a:rPr lang="en-US" b="1" dirty="0">
                          <a:effectLst/>
                          <a:latin typeface="quote-cjk-patch"/>
                        </a:rPr>
                        <a:t>Static</a:t>
                      </a:r>
                      <a:endParaRPr lang="en-US" b="0" dirty="0">
                        <a:effectLst/>
                        <a:latin typeface="quote-cjk-patch"/>
                      </a:endParaRPr>
                    </a:p>
                  </a:txBody>
                  <a:tcPr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الرأس والهوائي</a:t>
                      </a:r>
                    </a:p>
                  </a:txBody>
                  <a:tcPr marL="121920" marR="121920" marT="76200" marB="76200" anchor="ctr">
                    <a:lnL>
                      <a:noFill/>
                    </a:lnL>
                    <a:lnR>
                      <a:noFill/>
                    </a:lnR>
                    <a:lnT>
                      <a:noFill/>
                    </a:lnT>
                    <a:lnB>
                      <a:noFill/>
                    </a:lnB>
                    <a:solidFill>
                      <a:schemeClr val="accent1">
                        <a:lumMod val="60000"/>
                        <a:lumOff val="40000"/>
                      </a:schemeClr>
                    </a:solidFill>
                  </a:tcPr>
                </a:tc>
                <a:tc>
                  <a:txBody>
                    <a:bodyPr/>
                    <a:lstStyle/>
                    <a:p>
                      <a:r>
                        <a:rPr lang="ar-SA" b="0" dirty="0">
                          <a:effectLst/>
                          <a:latin typeface="quote-cjk-patch"/>
                        </a:rPr>
                        <a:t>نبيها ثابتة بدون أي تأثير</a:t>
                      </a:r>
                    </a:p>
                  </a:txBody>
                  <a:tcPr marL="121920" marT="76200" marB="7620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3430471067"/>
                  </a:ext>
                </a:extLst>
              </a:tr>
            </a:tbl>
          </a:graphicData>
        </a:graphic>
      </p:graphicFrame>
    </p:spTree>
    <p:extLst>
      <p:ext uri="{BB962C8B-B14F-4D97-AF65-F5344CB8AC3E}">
        <p14:creationId xmlns:p14="http://schemas.microsoft.com/office/powerpoint/2010/main" val="274516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1A0B-F086-42B0-8D9F-617A7BB0FCA4}"/>
              </a:ext>
            </a:extLst>
          </p:cNvPr>
          <p:cNvSpPr>
            <a:spLocks noGrp="1"/>
          </p:cNvSpPr>
          <p:nvPr>
            <p:ph type="title"/>
          </p:nvPr>
        </p:nvSpPr>
        <p:spPr/>
        <p:txBody>
          <a:bodyPr/>
          <a:lstStyle/>
          <a:p>
            <a:r>
              <a:rPr lang="en-US" b="1" dirty="0">
                <a:effectLst/>
                <a:latin typeface="quote-cjk-patch"/>
              </a:rPr>
              <a:t>Uniforms</a:t>
            </a:r>
          </a:p>
        </p:txBody>
      </p:sp>
      <p:sp>
        <p:nvSpPr>
          <p:cNvPr id="3" name="Content Placeholder 2">
            <a:extLst>
              <a:ext uri="{FF2B5EF4-FFF2-40B4-BE49-F238E27FC236}">
                <a16:creationId xmlns:a16="http://schemas.microsoft.com/office/drawing/2014/main" id="{672566FF-29C4-46DB-9547-68D46CBF2D97}"/>
              </a:ext>
            </a:extLst>
          </p:cNvPr>
          <p:cNvSpPr>
            <a:spLocks noGrp="1"/>
          </p:cNvSpPr>
          <p:nvPr>
            <p:ph idx="1"/>
          </p:nvPr>
        </p:nvSpPr>
        <p:spPr/>
        <p:txBody>
          <a:bodyPr>
            <a:normAutofit/>
          </a:bodyPr>
          <a:lstStyle/>
          <a:p>
            <a:r>
              <a:rPr lang="ar-SA" sz="800" dirty="0"/>
              <a:t>// مواقع الـ </a:t>
            </a:r>
            <a:r>
              <a:rPr lang="en-US" sz="800" dirty="0"/>
              <a:t>Uniforms</a:t>
            </a:r>
          </a:p>
          <a:p>
            <a:r>
              <a:rPr lang="en-US" sz="800" dirty="0"/>
              <a:t>int </a:t>
            </a:r>
            <a:r>
              <a:rPr lang="en-US" sz="800" dirty="0" err="1"/>
              <a:t>timeLoc</a:t>
            </a:r>
            <a:r>
              <a:rPr lang="en-US" sz="800" dirty="0"/>
              <a:t> = </a:t>
            </a:r>
            <a:r>
              <a:rPr lang="en-US" sz="800" dirty="0" err="1"/>
              <a:t>glGetUniformLocation</a:t>
            </a:r>
            <a:r>
              <a:rPr lang="en-US" sz="800" dirty="0"/>
              <a:t>(</a:t>
            </a:r>
            <a:r>
              <a:rPr lang="en-US" sz="800" dirty="0" err="1"/>
              <a:t>shaderProgram</a:t>
            </a:r>
            <a:r>
              <a:rPr lang="en-US" sz="800" dirty="0"/>
              <a:t>, "</a:t>
            </a:r>
            <a:r>
              <a:rPr lang="en-US" sz="800" dirty="0" err="1"/>
              <a:t>uTime</a:t>
            </a:r>
            <a:r>
              <a:rPr lang="en-US" sz="800" dirty="0"/>
              <a:t>");</a:t>
            </a:r>
          </a:p>
          <a:p>
            <a:r>
              <a:rPr lang="en-US" sz="800" dirty="0"/>
              <a:t>int </a:t>
            </a:r>
            <a:r>
              <a:rPr lang="en-US" sz="800" dirty="0" err="1"/>
              <a:t>alphaLoc</a:t>
            </a:r>
            <a:r>
              <a:rPr lang="en-US" sz="800" dirty="0"/>
              <a:t> = </a:t>
            </a:r>
            <a:r>
              <a:rPr lang="en-US" sz="800" dirty="0" err="1"/>
              <a:t>glGetUniformLocation</a:t>
            </a:r>
            <a:r>
              <a:rPr lang="en-US" sz="800" dirty="0"/>
              <a:t>(</a:t>
            </a:r>
            <a:r>
              <a:rPr lang="en-US" sz="800" dirty="0" err="1"/>
              <a:t>shaderProgram</a:t>
            </a:r>
            <a:r>
              <a:rPr lang="en-US" sz="800" dirty="0"/>
              <a:t>, "</a:t>
            </a:r>
            <a:r>
              <a:rPr lang="en-US" sz="800" dirty="0" err="1"/>
              <a:t>uAlpha</a:t>
            </a:r>
            <a:r>
              <a:rPr lang="en-US" sz="800" dirty="0"/>
              <a:t>");</a:t>
            </a:r>
          </a:p>
          <a:p>
            <a:endParaRPr lang="en-US" sz="800" dirty="0"/>
          </a:p>
          <a:p>
            <a:r>
              <a:rPr lang="en-US" sz="800" dirty="0"/>
              <a:t>// </a:t>
            </a:r>
            <a:r>
              <a:rPr lang="ar-SA" sz="800" dirty="0"/>
              <a:t>إرسال القيم</a:t>
            </a:r>
          </a:p>
          <a:p>
            <a:r>
              <a:rPr lang="en-US" sz="800" dirty="0"/>
              <a:t>glUniform1f(</a:t>
            </a:r>
            <a:r>
              <a:rPr lang="en-US" sz="800" dirty="0" err="1"/>
              <a:t>timeLoc</a:t>
            </a:r>
            <a:r>
              <a:rPr lang="en-US" sz="800" dirty="0"/>
              <a:t>, </a:t>
            </a:r>
            <a:r>
              <a:rPr lang="en-US" sz="800" dirty="0" err="1"/>
              <a:t>timeValue</a:t>
            </a:r>
            <a:r>
              <a:rPr lang="en-US" sz="800" dirty="0"/>
              <a:t>);  // </a:t>
            </a:r>
            <a:r>
              <a:rPr lang="ar-SA" sz="800" dirty="0"/>
              <a:t>إرسال الوقت</a:t>
            </a:r>
          </a:p>
          <a:p>
            <a:r>
              <a:rPr lang="en-US" sz="800" dirty="0"/>
              <a:t>glUniform1f(</a:t>
            </a:r>
            <a:r>
              <a:rPr lang="en-US" sz="800" dirty="0" err="1"/>
              <a:t>alphaLoc</a:t>
            </a:r>
            <a:r>
              <a:rPr lang="en-US" sz="800" dirty="0"/>
              <a:t>, 0.7f);      // </a:t>
            </a:r>
            <a:r>
              <a:rPr lang="ar-SA" sz="800" dirty="0"/>
              <a:t>إرسال الشفافية</a:t>
            </a:r>
            <a:endParaRPr lang="en-US" sz="800" dirty="0"/>
          </a:p>
          <a:p>
            <a:endParaRPr lang="ar-SA" sz="800" dirty="0"/>
          </a:p>
          <a:p>
            <a:r>
              <a:rPr lang="ar-SA" sz="800" dirty="0"/>
              <a:t>الـ </a:t>
            </a:r>
            <a:r>
              <a:rPr lang="en-US" sz="800" dirty="0"/>
              <a:t>Uniform	</a:t>
            </a:r>
            <a:r>
              <a:rPr lang="ar-SA" sz="800" dirty="0"/>
              <a:t>نوعه	مكان استخدامه	وظيفته</a:t>
            </a:r>
          </a:p>
          <a:p>
            <a:r>
              <a:rPr lang="en-US" sz="800" dirty="0" err="1"/>
              <a:t>uTime</a:t>
            </a:r>
            <a:r>
              <a:rPr lang="en-US" sz="800" dirty="0"/>
              <a:t>	float	Vertex Shader (</a:t>
            </a:r>
            <a:r>
              <a:rPr lang="ar-SA" sz="800" dirty="0"/>
              <a:t>العيون والفم)	يحرك الألوان والموقع مع الزمن</a:t>
            </a:r>
          </a:p>
          <a:p>
            <a:r>
              <a:rPr lang="en-US" sz="800" dirty="0" err="1"/>
              <a:t>uAlpha</a:t>
            </a:r>
            <a:r>
              <a:rPr lang="en-US" sz="800" dirty="0"/>
              <a:t>	float	Fragment Shader (</a:t>
            </a:r>
            <a:r>
              <a:rPr lang="ar-SA" sz="800" dirty="0"/>
              <a:t>الكل)	يحدد شفافية كل جزء</a:t>
            </a:r>
            <a:endParaRPr lang="en-US" sz="800" dirty="0"/>
          </a:p>
          <a:p>
            <a:r>
              <a:rPr lang="en-US" sz="800" dirty="0"/>
              <a:t>float </a:t>
            </a:r>
            <a:r>
              <a:rPr lang="en-US" sz="800" dirty="0" err="1"/>
              <a:t>timeValue</a:t>
            </a:r>
            <a:r>
              <a:rPr lang="en-US" sz="800" dirty="0"/>
              <a:t> = </a:t>
            </a:r>
            <a:r>
              <a:rPr lang="en-US" sz="800" dirty="0" err="1"/>
              <a:t>glfwGetTime</a:t>
            </a:r>
            <a:r>
              <a:rPr lang="en-US" sz="800" dirty="0"/>
              <a:t>();  // </a:t>
            </a:r>
            <a:r>
              <a:rPr lang="ar-SA" sz="800" dirty="0"/>
              <a:t>ترجع عدد الثواني من بداية البرنامج</a:t>
            </a:r>
            <a:endParaRPr lang="en-US" sz="800" dirty="0"/>
          </a:p>
          <a:p>
            <a:endParaRPr lang="en-US" sz="800" dirty="0"/>
          </a:p>
        </p:txBody>
      </p:sp>
    </p:spTree>
    <p:extLst>
      <p:ext uri="{BB962C8B-B14F-4D97-AF65-F5344CB8AC3E}">
        <p14:creationId xmlns:p14="http://schemas.microsoft.com/office/powerpoint/2010/main" val="3234024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A68B-523A-42CB-AE5D-03DE9B66E276}"/>
              </a:ext>
            </a:extLst>
          </p:cNvPr>
          <p:cNvSpPr>
            <a:spLocks noGrp="1"/>
          </p:cNvSpPr>
          <p:nvPr>
            <p:ph type="title"/>
          </p:nvPr>
        </p:nvSpPr>
        <p:spPr/>
        <p:txBody>
          <a:bodyPr/>
          <a:lstStyle/>
          <a:p>
            <a:r>
              <a:rPr lang="ar-SA" b="1" dirty="0">
                <a:solidFill>
                  <a:srgbClr val="F9FAFB"/>
                </a:solidFill>
                <a:effectLst/>
                <a:latin typeface="quote-cjk-patch"/>
              </a:rPr>
              <a:t> </a:t>
            </a:r>
            <a:r>
              <a:rPr lang="ar-SA" b="1" dirty="0">
                <a:effectLst/>
                <a:latin typeface="quote-cjk-patch"/>
              </a:rPr>
              <a:t>ترتيب الرسم</a:t>
            </a:r>
            <a:br>
              <a:rPr lang="ar-SA"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5B239131-5835-4234-AF58-DF1B36E4EE17}"/>
              </a:ext>
            </a:extLst>
          </p:cNvPr>
          <p:cNvSpPr>
            <a:spLocks noGrp="1"/>
          </p:cNvSpPr>
          <p:nvPr>
            <p:ph idx="1"/>
          </p:nvPr>
        </p:nvSpPr>
        <p:spPr>
          <a:xfrm>
            <a:off x="838200" y="1825625"/>
            <a:ext cx="10515600" cy="4907684"/>
          </a:xfrm>
        </p:spPr>
        <p:txBody>
          <a:bodyPr>
            <a:normAutofit/>
          </a:bodyPr>
          <a:lstStyle/>
          <a:p>
            <a:r>
              <a:rPr lang="ar-SA" sz="800" dirty="0"/>
              <a:t>// 1. الأجزاء الثابتة (الأبعد)</a:t>
            </a:r>
          </a:p>
          <a:p>
            <a:r>
              <a:rPr lang="en-US" sz="800" dirty="0" err="1"/>
              <a:t>glDrawArrays</a:t>
            </a:r>
            <a:r>
              <a:rPr lang="en-US" sz="800" dirty="0"/>
              <a:t>(GL_TRIANGLES, HEAD_START, HEAD_COUNT);     // </a:t>
            </a:r>
            <a:r>
              <a:rPr lang="ar-SA" sz="800" dirty="0"/>
              <a:t>الرأس </a:t>
            </a:r>
            <a:r>
              <a:rPr lang="en-US" sz="800" dirty="0"/>
              <a:t>Z=0.0</a:t>
            </a:r>
          </a:p>
          <a:p>
            <a:endParaRPr lang="en-US" sz="800" dirty="0"/>
          </a:p>
          <a:p>
            <a:r>
              <a:rPr lang="en-US" sz="800" dirty="0"/>
              <a:t>// 2. </a:t>
            </a:r>
            <a:r>
              <a:rPr lang="ar-SA" sz="800" dirty="0"/>
              <a:t>الفم المتحرك (وسط)</a:t>
            </a:r>
          </a:p>
          <a:p>
            <a:r>
              <a:rPr lang="en-US" sz="800" dirty="0" err="1"/>
              <a:t>glDrawArrays</a:t>
            </a:r>
            <a:r>
              <a:rPr lang="en-US" sz="800" dirty="0"/>
              <a:t>(GL_TRIANGLES, MOUTH_START, MOUTH_COUNT);   // </a:t>
            </a:r>
            <a:r>
              <a:rPr lang="ar-SA" sz="800" dirty="0"/>
              <a:t>الفم </a:t>
            </a:r>
            <a:r>
              <a:rPr lang="en-US" sz="800" dirty="0"/>
              <a:t>Z=-0.05</a:t>
            </a:r>
          </a:p>
          <a:p>
            <a:endParaRPr lang="en-US" sz="800" dirty="0"/>
          </a:p>
          <a:p>
            <a:r>
              <a:rPr lang="en-US" sz="800" dirty="0"/>
              <a:t>// 3. </a:t>
            </a:r>
            <a:r>
              <a:rPr lang="ar-SA" sz="800" dirty="0"/>
              <a:t>العيون (الأقرب)</a:t>
            </a:r>
          </a:p>
          <a:p>
            <a:r>
              <a:rPr lang="en-US" sz="800" dirty="0" err="1"/>
              <a:t>glDrawArrays</a:t>
            </a:r>
            <a:r>
              <a:rPr lang="en-US" sz="800" dirty="0"/>
              <a:t>(GL_TRIANGLES, LEFT_EYE_START, LEFT_EYE_COUNT);   // Z=-0.1</a:t>
            </a:r>
          </a:p>
          <a:p>
            <a:r>
              <a:rPr lang="en-US" sz="800" dirty="0" err="1"/>
              <a:t>glDrawArrays</a:t>
            </a:r>
            <a:r>
              <a:rPr lang="en-US" sz="800" dirty="0"/>
              <a:t>(GL_TRIANGLES, RIGHT_EYE_START, RIGHT_EYE_COUNT); // Z=-0.1</a:t>
            </a:r>
          </a:p>
          <a:p>
            <a:endParaRPr lang="en-US" sz="800" dirty="0"/>
          </a:p>
          <a:p>
            <a:r>
              <a:rPr lang="en-US" sz="800" dirty="0"/>
              <a:t>// 4. </a:t>
            </a:r>
            <a:r>
              <a:rPr lang="ar-SA" sz="800" dirty="0"/>
              <a:t>الهوائي (الأقرب جداً)</a:t>
            </a:r>
          </a:p>
          <a:p>
            <a:r>
              <a:rPr lang="en-US" sz="800" dirty="0" err="1"/>
              <a:t>glDrawArrays</a:t>
            </a:r>
            <a:r>
              <a:rPr lang="en-US" sz="800" dirty="0"/>
              <a:t>(GL_TRIANGLES, ANTENNA_START, ANTENNA_COUNT);     // Z=-0.2</a:t>
            </a:r>
          </a:p>
          <a:p>
            <a:endParaRPr lang="ar-SA" sz="800" dirty="0"/>
          </a:p>
          <a:p>
            <a:r>
              <a:rPr lang="ar-SA" sz="800" dirty="0"/>
              <a:t>الترتيب	الجزء	قيمة </a:t>
            </a:r>
            <a:r>
              <a:rPr lang="en-US" sz="800" dirty="0"/>
              <a:t>Z	</a:t>
            </a:r>
            <a:r>
              <a:rPr lang="ar-SA" sz="800" dirty="0"/>
              <a:t>السبب</a:t>
            </a:r>
          </a:p>
          <a:p>
            <a:r>
              <a:rPr lang="ar-SA" sz="800" dirty="0"/>
              <a:t>1	الرأس	0.0	الأبعد يُرسم أولاً</a:t>
            </a:r>
          </a:p>
          <a:p>
            <a:r>
              <a:rPr lang="ar-SA" sz="800" dirty="0"/>
              <a:t>2	الفم	-0.05	وسط المسافة</a:t>
            </a:r>
          </a:p>
          <a:p>
            <a:r>
              <a:rPr lang="ar-SA" sz="800" dirty="0"/>
              <a:t>3	العيون	-0.1	أقرب من الرأس</a:t>
            </a:r>
          </a:p>
          <a:p>
            <a:r>
              <a:rPr lang="ar-SA" sz="800" dirty="0"/>
              <a:t>4	الهوائي	-0.2	أقرب جزء للكاميرا</a:t>
            </a:r>
            <a:endParaRPr lang="en-US" sz="800" dirty="0"/>
          </a:p>
          <a:p>
            <a:r>
              <a:rPr lang="ar-SA" sz="800" dirty="0"/>
              <a:t>أصغر (أكثر سالبية) هي الأقرب للكاميرا.</a:t>
            </a:r>
          </a:p>
          <a:p>
            <a:endParaRPr lang="en-US" sz="800" dirty="0"/>
          </a:p>
        </p:txBody>
      </p:sp>
    </p:spTree>
    <p:extLst>
      <p:ext uri="{BB962C8B-B14F-4D97-AF65-F5344CB8AC3E}">
        <p14:creationId xmlns:p14="http://schemas.microsoft.com/office/powerpoint/2010/main" val="1884618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C22F1-FAA2-4B90-9AF5-5398E093FCB3}"/>
              </a:ext>
            </a:extLst>
          </p:cNvPr>
          <p:cNvSpPr>
            <a:spLocks noGrp="1"/>
          </p:cNvSpPr>
          <p:nvPr>
            <p:ph type="title"/>
          </p:nvPr>
        </p:nvSpPr>
        <p:spPr/>
        <p:txBody>
          <a:bodyPr/>
          <a:lstStyle/>
          <a:p>
            <a:r>
              <a:rPr lang="ar-SA" b="1" dirty="0">
                <a:effectLst/>
                <a:latin typeface="quote-cjk-patch"/>
              </a:rPr>
              <a:t>إعدادات</a:t>
            </a:r>
            <a:br>
              <a:rPr lang="ar-SA"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A17B3981-E5F5-49D7-8789-3EF71A3522B4}"/>
              </a:ext>
            </a:extLst>
          </p:cNvPr>
          <p:cNvSpPr>
            <a:spLocks noGrp="1"/>
          </p:cNvSpPr>
          <p:nvPr>
            <p:ph idx="1"/>
          </p:nvPr>
        </p:nvSpPr>
        <p:spPr/>
        <p:txBody>
          <a:bodyPr>
            <a:normAutofit/>
          </a:bodyPr>
          <a:lstStyle/>
          <a:p>
            <a:r>
              <a:rPr lang="ar-SA" sz="800" dirty="0"/>
              <a:t>// تفعيل الميزات</a:t>
            </a:r>
          </a:p>
          <a:p>
            <a:r>
              <a:rPr lang="en-US" sz="800" dirty="0" err="1"/>
              <a:t>glEnable</a:t>
            </a:r>
            <a:r>
              <a:rPr lang="en-US" sz="800" dirty="0"/>
              <a:t>(GL_DEPTH_TEST);   // </a:t>
            </a:r>
            <a:r>
              <a:rPr lang="ar-SA" sz="800" dirty="0"/>
              <a:t>اختبار العمق</a:t>
            </a:r>
          </a:p>
          <a:p>
            <a:r>
              <a:rPr lang="en-US" sz="800" dirty="0" err="1"/>
              <a:t>glEnable</a:t>
            </a:r>
            <a:r>
              <a:rPr lang="en-US" sz="800" dirty="0"/>
              <a:t>(GL_BLEND);        // </a:t>
            </a:r>
            <a:r>
              <a:rPr lang="ar-SA" sz="800" dirty="0"/>
              <a:t>تفعيل الشفافية</a:t>
            </a:r>
          </a:p>
          <a:p>
            <a:r>
              <a:rPr lang="en-US" sz="800" dirty="0" err="1"/>
              <a:t>glBlendFunc</a:t>
            </a:r>
            <a:r>
              <a:rPr lang="en-US" sz="800" dirty="0"/>
              <a:t>(GL_SRC_ALPHA, GL_ONE_MINUS_SRC_ALPHA);  // </a:t>
            </a:r>
            <a:r>
              <a:rPr lang="ar-SA" sz="800" dirty="0"/>
              <a:t>معادلة الدمج</a:t>
            </a:r>
          </a:p>
          <a:p>
            <a:endParaRPr lang="ar-SA" sz="800" dirty="0"/>
          </a:p>
          <a:p>
            <a:r>
              <a:rPr lang="ar-SA" sz="800" dirty="0"/>
              <a:t>// وضع الرسم</a:t>
            </a:r>
          </a:p>
          <a:p>
            <a:r>
              <a:rPr lang="en-US" sz="800" dirty="0" err="1"/>
              <a:t>glPolygonMode</a:t>
            </a:r>
            <a:r>
              <a:rPr lang="en-US" sz="800" dirty="0"/>
              <a:t>(GL_FRONT_AND_BACK, GL_LINE);  // </a:t>
            </a:r>
            <a:r>
              <a:rPr lang="ar-SA" sz="800" dirty="0"/>
              <a:t>وضع الخطوط (</a:t>
            </a:r>
            <a:r>
              <a:rPr lang="en-US" sz="800" dirty="0"/>
              <a:t>SPACE)</a:t>
            </a:r>
          </a:p>
          <a:p>
            <a:r>
              <a:rPr lang="en-US" sz="800" dirty="0" err="1"/>
              <a:t>glPolygonMode</a:t>
            </a:r>
            <a:r>
              <a:rPr lang="en-US" sz="800" dirty="0"/>
              <a:t>(GL_FRONT_AND_BACK, GL_FILL);  // </a:t>
            </a:r>
            <a:r>
              <a:rPr lang="ar-SA" sz="800" dirty="0"/>
              <a:t>وضع التعبئة (</a:t>
            </a:r>
            <a:r>
              <a:rPr lang="en-US" sz="800" dirty="0"/>
              <a:t>ENTER)</a:t>
            </a:r>
            <a:endParaRPr lang="ar-SA" sz="800" dirty="0"/>
          </a:p>
          <a:p>
            <a:r>
              <a:rPr lang="ar-SA" sz="800" dirty="0"/>
              <a:t>الإعداد	الوظيفة	ماذا يفعل؟</a:t>
            </a:r>
          </a:p>
          <a:p>
            <a:r>
              <a:rPr lang="en-US" sz="800" dirty="0"/>
              <a:t>GL_DEPTH_TEST	</a:t>
            </a:r>
            <a:r>
              <a:rPr lang="ar-SA" sz="800" dirty="0"/>
              <a:t>اختبار العمق	يمنع تداخل الأجزاء، يرسم الأقرب فوق البعيد</a:t>
            </a:r>
          </a:p>
          <a:p>
            <a:r>
              <a:rPr lang="en-US" sz="800" dirty="0"/>
              <a:t>GL_BLEND	</a:t>
            </a:r>
            <a:r>
              <a:rPr lang="ar-SA" sz="800" dirty="0"/>
              <a:t>الشفافية	يخلط الألوان عشان نرى الخلفية من خلال العيون</a:t>
            </a:r>
          </a:p>
          <a:p>
            <a:r>
              <a:rPr lang="en-US" sz="800" dirty="0" err="1"/>
              <a:t>glBlendFunc</a:t>
            </a:r>
            <a:r>
              <a:rPr lang="en-US" sz="800" dirty="0"/>
              <a:t>	</a:t>
            </a:r>
            <a:r>
              <a:rPr lang="ar-SA" sz="800" dirty="0"/>
              <a:t>معادلة الدمج	يحدد كيف تندمج الألوان: الجديد = (لوني * شفافيتي) + (الخلفية * (1-شفافيتي))</a:t>
            </a:r>
          </a:p>
          <a:p>
            <a:r>
              <a:rPr lang="en-US" sz="800" dirty="0"/>
              <a:t>GL_LINE	</a:t>
            </a:r>
            <a:r>
              <a:rPr lang="ar-SA" sz="800" dirty="0"/>
              <a:t>وضع الخطوط	يعرض المثلثات كشبكة خطوط (مفيد للفهم)</a:t>
            </a:r>
            <a:endParaRPr lang="en-US" sz="800" dirty="0"/>
          </a:p>
        </p:txBody>
      </p:sp>
    </p:spTree>
    <p:extLst>
      <p:ext uri="{BB962C8B-B14F-4D97-AF65-F5344CB8AC3E}">
        <p14:creationId xmlns:p14="http://schemas.microsoft.com/office/powerpoint/2010/main" val="370453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7861-BEB0-479D-818F-F0915CFD0585}"/>
              </a:ext>
            </a:extLst>
          </p:cNvPr>
          <p:cNvSpPr>
            <a:spLocks noGrp="1"/>
          </p:cNvSpPr>
          <p:nvPr>
            <p:ph type="title"/>
          </p:nvPr>
        </p:nvSpPr>
        <p:spPr/>
        <p:txBody>
          <a:bodyPr/>
          <a:lstStyle/>
          <a:p>
            <a:r>
              <a:rPr lang="ar-SA" b="1" dirty="0">
                <a:effectLst/>
                <a:latin typeface="quote-cjk-patch"/>
              </a:rPr>
              <a:t>حركة العيون</a:t>
            </a:r>
            <a:br>
              <a:rPr lang="ar-SA"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2AB0B9BF-FFF8-494D-9AAE-EDE22B3BF133}"/>
              </a:ext>
            </a:extLst>
          </p:cNvPr>
          <p:cNvSpPr>
            <a:spLocks noGrp="1"/>
          </p:cNvSpPr>
          <p:nvPr>
            <p:ph idx="1"/>
          </p:nvPr>
        </p:nvSpPr>
        <p:spPr/>
        <p:txBody>
          <a:bodyPr>
            <a:normAutofit/>
          </a:bodyPr>
          <a:lstStyle/>
          <a:p>
            <a:r>
              <a:rPr lang="ar-SA" sz="800" dirty="0"/>
              <a:t>// في </a:t>
            </a:r>
            <a:r>
              <a:rPr lang="en-US" sz="800" dirty="0"/>
              <a:t>Vertex Shader </a:t>
            </a:r>
            <a:r>
              <a:rPr lang="ar-SA" sz="800" dirty="0"/>
              <a:t>للعيون</a:t>
            </a:r>
          </a:p>
          <a:p>
            <a:r>
              <a:rPr lang="en-US" sz="800" dirty="0" err="1"/>
              <a:t>ourColor</a:t>
            </a:r>
            <a:r>
              <a:rPr lang="en-US" sz="800" dirty="0"/>
              <a:t> = </a:t>
            </a:r>
            <a:r>
              <a:rPr lang="en-US" sz="800" dirty="0" err="1"/>
              <a:t>aColor</a:t>
            </a:r>
            <a:r>
              <a:rPr lang="en-US" sz="800" dirty="0"/>
              <a:t> * (0.7 + 0.3 * sin(</a:t>
            </a:r>
            <a:r>
              <a:rPr lang="en-US" sz="800" dirty="0" err="1"/>
              <a:t>uTime</a:t>
            </a:r>
            <a:r>
              <a:rPr lang="en-US" sz="800" dirty="0"/>
              <a:t> * 3.0));</a:t>
            </a:r>
          </a:p>
          <a:p>
            <a:endParaRPr lang="en-US" sz="800" dirty="0"/>
          </a:p>
          <a:p>
            <a:r>
              <a:rPr lang="en-US" sz="800" dirty="0"/>
              <a:t>// </a:t>
            </a:r>
            <a:r>
              <a:rPr lang="ar-SA" sz="800" dirty="0"/>
              <a:t>في حلقة الرسم - شفافية مختلفة لكل عين</a:t>
            </a:r>
          </a:p>
          <a:p>
            <a:r>
              <a:rPr lang="en-US" sz="800" dirty="0"/>
              <a:t>float </a:t>
            </a:r>
            <a:r>
              <a:rPr lang="en-US" sz="800" dirty="0" err="1"/>
              <a:t>leftEyeAlpha</a:t>
            </a:r>
            <a:r>
              <a:rPr lang="en-US" sz="800" dirty="0"/>
              <a:t> = 0.7f + 0.3f * sin(</a:t>
            </a:r>
            <a:r>
              <a:rPr lang="en-US" sz="800" dirty="0" err="1"/>
              <a:t>timeValue</a:t>
            </a:r>
            <a:r>
              <a:rPr lang="en-US" sz="800" dirty="0"/>
              <a:t> * 4.0f);</a:t>
            </a:r>
          </a:p>
          <a:p>
            <a:r>
              <a:rPr lang="en-US" sz="800" dirty="0"/>
              <a:t>float </a:t>
            </a:r>
            <a:r>
              <a:rPr lang="en-US" sz="800" dirty="0" err="1"/>
              <a:t>rightEyeAlpha</a:t>
            </a:r>
            <a:r>
              <a:rPr lang="en-US" sz="800" dirty="0"/>
              <a:t> = 0.7f + 0.3f * cos(</a:t>
            </a:r>
            <a:r>
              <a:rPr lang="en-US" sz="800" dirty="0" err="1"/>
              <a:t>timeValue</a:t>
            </a:r>
            <a:r>
              <a:rPr lang="en-US" sz="800" dirty="0"/>
              <a:t> * 4.0f);</a:t>
            </a:r>
          </a:p>
          <a:p>
            <a:r>
              <a:rPr lang="ar-SA" sz="800" b="0" i="0" dirty="0">
                <a:effectLst/>
                <a:latin typeface="quote-cjk-patch"/>
              </a:rPr>
              <a:t>عشان العينين تومض بشكل متناوب (وحدة تكون قوية </a:t>
            </a:r>
            <a:r>
              <a:rPr lang="ar-SA" sz="800" b="0" i="0" dirty="0" err="1">
                <a:effectLst/>
                <a:latin typeface="quote-cjk-patch"/>
              </a:rPr>
              <a:t>والتانية</a:t>
            </a:r>
            <a:r>
              <a:rPr lang="ar-SA" sz="800" b="0" i="0" dirty="0">
                <a:effectLst/>
                <a:latin typeface="quote-cjk-patch"/>
              </a:rPr>
              <a:t> ضعيفة)</a:t>
            </a:r>
            <a:r>
              <a:rPr lang="en-US" sz="800" b="0" i="0" dirty="0" err="1">
                <a:effectLst/>
                <a:latin typeface="quote-cjk-patch"/>
              </a:rPr>
              <a:t>gbvvvvvv</a:t>
            </a:r>
            <a:endParaRPr lang="en-US" sz="800" b="0" i="0" dirty="0">
              <a:effectLst/>
              <a:latin typeface="quote-cjk-patch"/>
            </a:endParaRPr>
          </a:p>
          <a:p>
            <a:endParaRPr lang="en-US" sz="800" dirty="0"/>
          </a:p>
        </p:txBody>
      </p:sp>
    </p:spTree>
    <p:extLst>
      <p:ext uri="{BB962C8B-B14F-4D97-AF65-F5344CB8AC3E}">
        <p14:creationId xmlns:p14="http://schemas.microsoft.com/office/powerpoint/2010/main" val="81819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C0D3-E4B0-4146-801E-6AEC5DFEDA0C}"/>
              </a:ext>
            </a:extLst>
          </p:cNvPr>
          <p:cNvSpPr>
            <a:spLocks noGrp="1"/>
          </p:cNvSpPr>
          <p:nvPr>
            <p:ph type="title"/>
          </p:nvPr>
        </p:nvSpPr>
        <p:spPr/>
        <p:txBody>
          <a:bodyPr/>
          <a:lstStyle/>
          <a:p>
            <a:r>
              <a:rPr lang="ar-SA" b="1" dirty="0">
                <a:solidFill>
                  <a:srgbClr val="F9FAFB"/>
                </a:solidFill>
                <a:effectLst/>
                <a:latin typeface="quote-cjk-patch"/>
              </a:rPr>
              <a:t> </a:t>
            </a:r>
            <a:r>
              <a:rPr lang="ar-SA" b="1" dirty="0">
                <a:effectLst/>
                <a:latin typeface="quote-cjk-patch"/>
              </a:rPr>
              <a:t>حركة الفم</a:t>
            </a:r>
            <a:br>
              <a:rPr lang="ar-SA"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C81EA33E-2E23-4625-901E-87467DE70547}"/>
              </a:ext>
            </a:extLst>
          </p:cNvPr>
          <p:cNvSpPr>
            <a:spLocks noGrp="1"/>
          </p:cNvSpPr>
          <p:nvPr>
            <p:ph idx="1"/>
          </p:nvPr>
        </p:nvSpPr>
        <p:spPr/>
        <p:txBody>
          <a:bodyPr>
            <a:normAutofit/>
          </a:bodyPr>
          <a:lstStyle/>
          <a:p>
            <a:r>
              <a:rPr lang="ar-SA" sz="800" dirty="0"/>
              <a:t>// في </a:t>
            </a:r>
            <a:r>
              <a:rPr lang="en-US" sz="800" dirty="0"/>
              <a:t>Vertex Shader </a:t>
            </a:r>
            <a:r>
              <a:rPr lang="ar-SA" sz="800" dirty="0"/>
              <a:t>للفم</a:t>
            </a:r>
          </a:p>
          <a:p>
            <a:r>
              <a:rPr lang="en-US" sz="800" dirty="0"/>
              <a:t>float </a:t>
            </a:r>
            <a:r>
              <a:rPr lang="en-US" sz="800" dirty="0" err="1"/>
              <a:t>smileAmount</a:t>
            </a:r>
            <a:r>
              <a:rPr lang="en-US" sz="800" dirty="0"/>
              <a:t> = sin(</a:t>
            </a:r>
            <a:r>
              <a:rPr lang="en-US" sz="800" dirty="0" err="1"/>
              <a:t>uTime</a:t>
            </a:r>
            <a:r>
              <a:rPr lang="en-US" sz="800" dirty="0"/>
              <a:t> * 2.0) * 0.2;  // </a:t>
            </a:r>
            <a:r>
              <a:rPr lang="ar-SA" sz="800" dirty="0"/>
              <a:t>تتراوح بين -0.2 و 0.2</a:t>
            </a:r>
          </a:p>
          <a:p>
            <a:endParaRPr lang="ar-SA" sz="800" dirty="0"/>
          </a:p>
          <a:p>
            <a:r>
              <a:rPr lang="en-US" sz="800" dirty="0"/>
              <a:t>if (</a:t>
            </a:r>
            <a:r>
              <a:rPr lang="en-US" sz="800" dirty="0" err="1"/>
              <a:t>aPos.x</a:t>
            </a:r>
            <a:r>
              <a:rPr lang="en-US" sz="800" dirty="0"/>
              <a:t> &gt; 0.4) {  // </a:t>
            </a:r>
            <a:r>
              <a:rPr lang="ar-SA" sz="800" dirty="0"/>
              <a:t>الرؤوس اليمين</a:t>
            </a:r>
          </a:p>
          <a:p>
            <a:r>
              <a:rPr lang="ar-SA" sz="800" dirty="0"/>
              <a:t>    </a:t>
            </a:r>
            <a:r>
              <a:rPr lang="en-US" sz="800" dirty="0" err="1"/>
              <a:t>newPos.x</a:t>
            </a:r>
            <a:r>
              <a:rPr lang="en-US" sz="800" dirty="0"/>
              <a:t> = </a:t>
            </a:r>
            <a:r>
              <a:rPr lang="en-US" sz="800" dirty="0" err="1"/>
              <a:t>aPos.x</a:t>
            </a:r>
            <a:r>
              <a:rPr lang="en-US" sz="800" dirty="0"/>
              <a:t> + </a:t>
            </a:r>
            <a:r>
              <a:rPr lang="en-US" sz="800" dirty="0" err="1"/>
              <a:t>smileAmount</a:t>
            </a:r>
            <a:r>
              <a:rPr lang="en-US" sz="800" dirty="0"/>
              <a:t>;  // </a:t>
            </a:r>
            <a:r>
              <a:rPr lang="ar-SA" sz="800" dirty="0"/>
              <a:t>تتحرك لليمين أو لليسار</a:t>
            </a:r>
          </a:p>
          <a:p>
            <a:r>
              <a:rPr lang="ar-SA" sz="800" dirty="0"/>
              <a:t>}</a:t>
            </a:r>
          </a:p>
          <a:p>
            <a:r>
              <a:rPr lang="en-US" sz="800" dirty="0"/>
              <a:t>else if (</a:t>
            </a:r>
            <a:r>
              <a:rPr lang="en-US" sz="800" dirty="0" err="1"/>
              <a:t>aPos.x</a:t>
            </a:r>
            <a:r>
              <a:rPr lang="en-US" sz="800" dirty="0"/>
              <a:t> &lt; -0.4) {  // </a:t>
            </a:r>
            <a:r>
              <a:rPr lang="ar-SA" sz="800" dirty="0"/>
              <a:t>الرؤوس اليسار</a:t>
            </a:r>
          </a:p>
          <a:p>
            <a:r>
              <a:rPr lang="ar-SA" sz="800" dirty="0"/>
              <a:t>    </a:t>
            </a:r>
            <a:r>
              <a:rPr lang="en-US" sz="800" dirty="0" err="1"/>
              <a:t>newPos.x</a:t>
            </a:r>
            <a:r>
              <a:rPr lang="en-US" sz="800" dirty="0"/>
              <a:t> = </a:t>
            </a:r>
            <a:r>
              <a:rPr lang="en-US" sz="800" dirty="0" err="1"/>
              <a:t>aPos.x</a:t>
            </a:r>
            <a:r>
              <a:rPr lang="en-US" sz="800" dirty="0"/>
              <a:t> - </a:t>
            </a:r>
            <a:r>
              <a:rPr lang="en-US" sz="800" dirty="0" err="1"/>
              <a:t>smileAmount</a:t>
            </a:r>
            <a:r>
              <a:rPr lang="en-US" sz="800" dirty="0"/>
              <a:t>;  // </a:t>
            </a:r>
            <a:r>
              <a:rPr lang="ar-SA" sz="800" dirty="0"/>
              <a:t>تتحرك لليمين أو لليسار (عكس الاتجاه)</a:t>
            </a:r>
          </a:p>
          <a:p>
            <a:r>
              <a:rPr lang="ar-SA" sz="800" dirty="0"/>
              <a:t>}</a:t>
            </a:r>
          </a:p>
          <a:p>
            <a:r>
              <a:rPr lang="ar-SA" sz="800" dirty="0"/>
              <a:t>حالة </a:t>
            </a:r>
            <a:r>
              <a:rPr lang="en-US" sz="800" dirty="0"/>
              <a:t>sin	</a:t>
            </a:r>
            <a:r>
              <a:rPr lang="ar-SA" sz="800" dirty="0"/>
              <a:t>قيمة </a:t>
            </a:r>
            <a:r>
              <a:rPr lang="en-US" sz="800" dirty="0" err="1"/>
              <a:t>smileAmount</a:t>
            </a:r>
            <a:r>
              <a:rPr lang="en-US" sz="800" dirty="0"/>
              <a:t>	</a:t>
            </a:r>
            <a:r>
              <a:rPr lang="ar-SA" sz="800" dirty="0"/>
              <a:t>حركة الفم</a:t>
            </a:r>
          </a:p>
          <a:p>
            <a:r>
              <a:rPr lang="ar-SA" sz="800" dirty="0"/>
              <a:t>موجبة	+0.2	الطرف اليمين يزيد (يصير 0.8)، الطرف اليسار ينقص (يصير -0.8) ← الفم يتمدد</a:t>
            </a:r>
          </a:p>
          <a:p>
            <a:r>
              <a:rPr lang="ar-SA" sz="800" dirty="0"/>
              <a:t>سالبة	-0.2	الطرف اليمين ينقص (يصير 0.4)، الطرف اليسار يزيد (يصير -0.4) ← الفم يتقلص</a:t>
            </a:r>
            <a:endParaRPr lang="en-US" sz="800" dirty="0"/>
          </a:p>
        </p:txBody>
      </p:sp>
    </p:spTree>
    <p:extLst>
      <p:ext uri="{BB962C8B-B14F-4D97-AF65-F5344CB8AC3E}">
        <p14:creationId xmlns:p14="http://schemas.microsoft.com/office/powerpoint/2010/main" val="102517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75CD-A0A5-4148-B30B-F7A70EF2C668}"/>
              </a:ext>
            </a:extLst>
          </p:cNvPr>
          <p:cNvSpPr>
            <a:spLocks noGrp="1"/>
          </p:cNvSpPr>
          <p:nvPr>
            <p:ph type="title"/>
          </p:nvPr>
        </p:nvSpPr>
        <p:spPr/>
        <p:txBody>
          <a:bodyPr/>
          <a:lstStyle/>
          <a:p>
            <a:r>
              <a:rPr lang="en-US" b="1" dirty="0">
                <a:effectLst/>
                <a:latin typeface="quote-cjk-patch"/>
              </a:rPr>
              <a:t>VAO </a:t>
            </a:r>
            <a:r>
              <a:rPr lang="ar-SA" b="1" dirty="0">
                <a:effectLst/>
                <a:latin typeface="quote-cjk-patch"/>
              </a:rPr>
              <a:t>و </a:t>
            </a:r>
            <a:r>
              <a:rPr lang="en-US" b="1" dirty="0">
                <a:effectLst/>
                <a:latin typeface="quote-cjk-patch"/>
              </a:rPr>
              <a:t>VBO </a:t>
            </a:r>
            <a:br>
              <a:rPr lang="en-US"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0322C9A8-14DB-48BE-B29A-3E204DCA78F7}"/>
              </a:ext>
            </a:extLst>
          </p:cNvPr>
          <p:cNvSpPr>
            <a:spLocks noGrp="1"/>
          </p:cNvSpPr>
          <p:nvPr>
            <p:ph idx="1"/>
          </p:nvPr>
        </p:nvSpPr>
        <p:spPr/>
        <p:txBody>
          <a:bodyPr>
            <a:normAutofit fontScale="92500" lnSpcReduction="10000"/>
          </a:bodyPr>
          <a:lstStyle/>
          <a:p>
            <a:r>
              <a:rPr lang="en-US" sz="800" dirty="0"/>
              <a:t>unsigned int VBO, VAO;</a:t>
            </a:r>
          </a:p>
          <a:p>
            <a:r>
              <a:rPr lang="en-US" sz="800" dirty="0" err="1"/>
              <a:t>glGenVertexArrays</a:t>
            </a:r>
            <a:r>
              <a:rPr lang="en-US" sz="800" dirty="0"/>
              <a:t>(1, &amp;VAO);</a:t>
            </a:r>
          </a:p>
          <a:p>
            <a:r>
              <a:rPr lang="en-US" sz="800" dirty="0" err="1"/>
              <a:t>glGenBuffers</a:t>
            </a:r>
            <a:r>
              <a:rPr lang="en-US" sz="800" dirty="0"/>
              <a:t>(1, &amp;VBO);</a:t>
            </a:r>
          </a:p>
          <a:p>
            <a:endParaRPr lang="en-US" sz="800" dirty="0"/>
          </a:p>
          <a:p>
            <a:r>
              <a:rPr lang="en-US" sz="800" dirty="0" err="1"/>
              <a:t>glBindVertexArray</a:t>
            </a:r>
            <a:r>
              <a:rPr lang="en-US" sz="800" dirty="0"/>
              <a:t>(VAO);</a:t>
            </a:r>
          </a:p>
          <a:p>
            <a:r>
              <a:rPr lang="en-US" sz="800" dirty="0" err="1"/>
              <a:t>glBindBuffer</a:t>
            </a:r>
            <a:r>
              <a:rPr lang="en-US" sz="800" dirty="0"/>
              <a:t>(GL_ARRAY_BUFFER, VBO);</a:t>
            </a:r>
          </a:p>
          <a:p>
            <a:r>
              <a:rPr lang="en-US" sz="800" dirty="0" err="1"/>
              <a:t>glBufferData</a:t>
            </a:r>
            <a:r>
              <a:rPr lang="en-US" sz="800" dirty="0"/>
              <a:t>(GL_ARRAY_BUFFER, </a:t>
            </a:r>
            <a:r>
              <a:rPr lang="en-US" sz="800" dirty="0" err="1"/>
              <a:t>sizeof</a:t>
            </a:r>
            <a:r>
              <a:rPr lang="en-US" sz="800" dirty="0"/>
              <a:t>(vertices), vertices, GL_STATIC_DRAW);</a:t>
            </a:r>
          </a:p>
          <a:p>
            <a:endParaRPr lang="en-US" sz="800" dirty="0"/>
          </a:p>
          <a:p>
            <a:r>
              <a:rPr lang="en-US" sz="800" dirty="0"/>
              <a:t>// </a:t>
            </a:r>
            <a:r>
              <a:rPr lang="ar-SA" sz="800" dirty="0"/>
              <a:t>تعريف كيف يقرأ الـ </a:t>
            </a:r>
            <a:r>
              <a:rPr lang="en-US" sz="800" dirty="0"/>
              <a:t>GPU </a:t>
            </a:r>
            <a:r>
              <a:rPr lang="ar-SA" sz="800" dirty="0"/>
              <a:t>البيانات</a:t>
            </a:r>
          </a:p>
          <a:p>
            <a:r>
              <a:rPr lang="en-US" sz="800" dirty="0" err="1"/>
              <a:t>glVertexAttribPointer</a:t>
            </a:r>
            <a:r>
              <a:rPr lang="en-US" sz="800" dirty="0"/>
              <a:t>(0, 3, GL_FLOAT, GL_FALSE, 6 * </a:t>
            </a:r>
            <a:r>
              <a:rPr lang="en-US" sz="800" dirty="0" err="1"/>
              <a:t>sizeof</a:t>
            </a:r>
            <a:r>
              <a:rPr lang="en-US" sz="800" dirty="0"/>
              <a:t>(float), (void*)0);</a:t>
            </a:r>
          </a:p>
          <a:p>
            <a:r>
              <a:rPr lang="en-US" sz="800" dirty="0" err="1"/>
              <a:t>glEnableVertexAttribArray</a:t>
            </a:r>
            <a:r>
              <a:rPr lang="en-US" sz="800" dirty="0"/>
              <a:t>(0);  // </a:t>
            </a:r>
            <a:r>
              <a:rPr lang="ar-SA" sz="800" dirty="0"/>
              <a:t>الموقع</a:t>
            </a:r>
          </a:p>
          <a:p>
            <a:endParaRPr lang="ar-SA" sz="800" dirty="0"/>
          </a:p>
          <a:p>
            <a:r>
              <a:rPr lang="en-US" sz="800" dirty="0" err="1"/>
              <a:t>glVertexAttribPointer</a:t>
            </a:r>
            <a:r>
              <a:rPr lang="en-US" sz="800" dirty="0"/>
              <a:t>(1, 3, GL_FLOAT, GL_FALSE, 6 * </a:t>
            </a:r>
            <a:r>
              <a:rPr lang="en-US" sz="800" dirty="0" err="1"/>
              <a:t>sizeof</a:t>
            </a:r>
            <a:r>
              <a:rPr lang="en-US" sz="800" dirty="0"/>
              <a:t>(float), (void*)(3 * </a:t>
            </a:r>
            <a:r>
              <a:rPr lang="en-US" sz="800" dirty="0" err="1"/>
              <a:t>sizeof</a:t>
            </a:r>
            <a:r>
              <a:rPr lang="en-US" sz="800" dirty="0"/>
              <a:t>(float)));</a:t>
            </a:r>
          </a:p>
          <a:p>
            <a:r>
              <a:rPr lang="en-US" sz="800" dirty="0" err="1"/>
              <a:t>glEnableVertexAttribArray</a:t>
            </a:r>
            <a:r>
              <a:rPr lang="en-US" sz="800" dirty="0"/>
              <a:t>(1);  // </a:t>
            </a:r>
            <a:r>
              <a:rPr lang="ar-SA" sz="800" dirty="0"/>
              <a:t>اللون</a:t>
            </a:r>
            <a:endParaRPr lang="en-US" sz="800" dirty="0"/>
          </a:p>
          <a:p>
            <a:endParaRPr lang="ar-SA" sz="800" dirty="0"/>
          </a:p>
          <a:p>
            <a:r>
              <a:rPr lang="ar-SA" sz="800" dirty="0"/>
              <a:t>المكون	الوظيفة	تشبيه</a:t>
            </a:r>
          </a:p>
          <a:p>
            <a:r>
              <a:rPr lang="en-US" sz="800" dirty="0"/>
              <a:t>VBO	</a:t>
            </a:r>
            <a:r>
              <a:rPr lang="ar-SA" sz="800" dirty="0"/>
              <a:t>يخزن أرقام الرؤوس	صندوق فيه كل الأرقام</a:t>
            </a:r>
          </a:p>
          <a:p>
            <a:r>
              <a:rPr lang="en-US" sz="800" dirty="0"/>
              <a:t>VAO	</a:t>
            </a:r>
            <a:r>
              <a:rPr lang="ar-SA" sz="800" dirty="0"/>
              <a:t>يخزن كيفية قراءة الأرقام	فهرس يشرح محتويات الصندوق</a:t>
            </a:r>
          </a:p>
          <a:p>
            <a:r>
              <a:rPr lang="en-US" sz="800" dirty="0"/>
              <a:t>Stride = 6	</a:t>
            </a:r>
            <a:r>
              <a:rPr lang="ar-SA" sz="800" dirty="0"/>
              <a:t>الخطوة بين كل رأس واللي بعده	كل رأس يشغل 6 أرقام</a:t>
            </a:r>
          </a:p>
          <a:p>
            <a:r>
              <a:rPr lang="en-US" sz="800" dirty="0"/>
              <a:t>Offset	</a:t>
            </a:r>
            <a:r>
              <a:rPr lang="ar-SA" sz="800" dirty="0"/>
              <a:t>مكان بداية كل سمة	الموقع يبدأ من 0، اللون يبدأ من الرقم 3</a:t>
            </a:r>
          </a:p>
          <a:p>
            <a:endParaRPr lang="en-US" sz="800" dirty="0"/>
          </a:p>
        </p:txBody>
      </p:sp>
    </p:spTree>
    <p:extLst>
      <p:ext uri="{BB962C8B-B14F-4D97-AF65-F5344CB8AC3E}">
        <p14:creationId xmlns:p14="http://schemas.microsoft.com/office/powerpoint/2010/main" val="3480392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B8D4D-D185-4FE3-8411-9F3FEB19857B}"/>
              </a:ext>
            </a:extLst>
          </p:cNvPr>
          <p:cNvSpPr>
            <a:spLocks noGrp="1"/>
          </p:cNvSpPr>
          <p:nvPr>
            <p:ph type="title"/>
          </p:nvPr>
        </p:nvSpPr>
        <p:spPr/>
        <p:txBody>
          <a:bodyPr/>
          <a:lstStyle/>
          <a:p>
            <a:r>
              <a:rPr lang="en-US" b="1" dirty="0">
                <a:effectLst/>
                <a:latin typeface="quote-cjk-patch"/>
              </a:rPr>
              <a:t>User Input</a:t>
            </a:r>
            <a:br>
              <a:rPr lang="en-US" b="1" dirty="0">
                <a:solidFill>
                  <a:srgbClr val="F9FAFB"/>
                </a:solidFill>
                <a:effectLst/>
                <a:latin typeface="quote-cjk-patch"/>
              </a:rPr>
            </a:br>
            <a:endParaRPr lang="en-US" dirty="0"/>
          </a:p>
        </p:txBody>
      </p:sp>
      <p:sp>
        <p:nvSpPr>
          <p:cNvPr id="3" name="Content Placeholder 2">
            <a:extLst>
              <a:ext uri="{FF2B5EF4-FFF2-40B4-BE49-F238E27FC236}">
                <a16:creationId xmlns:a16="http://schemas.microsoft.com/office/drawing/2014/main" id="{9513061B-5AB4-43A6-9E07-71D627BFECE9}"/>
              </a:ext>
            </a:extLst>
          </p:cNvPr>
          <p:cNvSpPr>
            <a:spLocks noGrp="1"/>
          </p:cNvSpPr>
          <p:nvPr>
            <p:ph idx="1"/>
          </p:nvPr>
        </p:nvSpPr>
        <p:spPr/>
        <p:txBody>
          <a:bodyPr>
            <a:normAutofit/>
          </a:bodyPr>
          <a:lstStyle/>
          <a:p>
            <a:r>
              <a:rPr lang="en-US" sz="900" dirty="0"/>
              <a:t>void </a:t>
            </a:r>
            <a:r>
              <a:rPr lang="en-US" sz="900" dirty="0" err="1"/>
              <a:t>processInput</a:t>
            </a:r>
            <a:r>
              <a:rPr lang="en-US" sz="900" dirty="0"/>
              <a:t>(</a:t>
            </a:r>
            <a:r>
              <a:rPr lang="en-US" sz="900" dirty="0" err="1"/>
              <a:t>GLFWwindow</a:t>
            </a:r>
            <a:r>
              <a:rPr lang="en-US" sz="900" dirty="0"/>
              <a:t>* window)</a:t>
            </a:r>
          </a:p>
          <a:p>
            <a:r>
              <a:rPr lang="en-US" sz="900" dirty="0"/>
              <a:t>{</a:t>
            </a:r>
          </a:p>
          <a:p>
            <a:r>
              <a:rPr lang="en-US" sz="900" dirty="0"/>
              <a:t>    if (</a:t>
            </a:r>
            <a:r>
              <a:rPr lang="en-US" sz="900" dirty="0" err="1"/>
              <a:t>glfwGetKey</a:t>
            </a:r>
            <a:r>
              <a:rPr lang="en-US" sz="900" dirty="0"/>
              <a:t>(window, GLFW_KEY_ESCAPE) == GLFW_PRESS)</a:t>
            </a:r>
          </a:p>
          <a:p>
            <a:r>
              <a:rPr lang="en-US" sz="900" dirty="0"/>
              <a:t>        </a:t>
            </a:r>
            <a:r>
              <a:rPr lang="en-US" sz="900" dirty="0" err="1"/>
              <a:t>glfwSetWindowShouldClose</a:t>
            </a:r>
            <a:r>
              <a:rPr lang="en-US" sz="900" dirty="0"/>
              <a:t>(window, true);</a:t>
            </a:r>
          </a:p>
          <a:p>
            <a:endParaRPr lang="en-US" sz="900" dirty="0"/>
          </a:p>
          <a:p>
            <a:r>
              <a:rPr lang="en-US" sz="900" dirty="0"/>
              <a:t>    // </a:t>
            </a:r>
            <a:r>
              <a:rPr lang="ar-SA" sz="900" dirty="0"/>
              <a:t>التبديل بين وضع الخطوط والتعبئة</a:t>
            </a:r>
          </a:p>
          <a:p>
            <a:r>
              <a:rPr lang="ar-SA" sz="900" dirty="0"/>
              <a:t>    </a:t>
            </a:r>
            <a:r>
              <a:rPr lang="en-US" sz="900" dirty="0"/>
              <a:t>if (</a:t>
            </a:r>
            <a:r>
              <a:rPr lang="en-US" sz="900" dirty="0" err="1"/>
              <a:t>glfwGetKey</a:t>
            </a:r>
            <a:r>
              <a:rPr lang="en-US" sz="900" dirty="0"/>
              <a:t>(window, GLFW_KEY_SPACE) == GLFW_PRESS)</a:t>
            </a:r>
          </a:p>
          <a:p>
            <a:r>
              <a:rPr lang="en-US" sz="900" dirty="0"/>
              <a:t>        </a:t>
            </a:r>
            <a:r>
              <a:rPr lang="en-US" sz="900" dirty="0" err="1"/>
              <a:t>glPolygonMode</a:t>
            </a:r>
            <a:r>
              <a:rPr lang="en-US" sz="900" dirty="0"/>
              <a:t>(GL_FRONT_AND_BACK, GL_LINE);</a:t>
            </a:r>
          </a:p>
          <a:p>
            <a:r>
              <a:rPr lang="en-US" sz="900" dirty="0"/>
              <a:t>        </a:t>
            </a:r>
          </a:p>
          <a:p>
            <a:r>
              <a:rPr lang="en-US" sz="900" dirty="0"/>
              <a:t>    if (</a:t>
            </a:r>
            <a:r>
              <a:rPr lang="en-US" sz="900" dirty="0" err="1"/>
              <a:t>glfwGetKey</a:t>
            </a:r>
            <a:r>
              <a:rPr lang="en-US" sz="900" dirty="0"/>
              <a:t>(window, GLFW_KEY_ENTER) == GLFW_PRESS)</a:t>
            </a:r>
          </a:p>
          <a:p>
            <a:r>
              <a:rPr lang="en-US" sz="900" dirty="0"/>
              <a:t>        </a:t>
            </a:r>
            <a:r>
              <a:rPr lang="en-US" sz="900" dirty="0" err="1"/>
              <a:t>glPolygonMode</a:t>
            </a:r>
            <a:r>
              <a:rPr lang="en-US" sz="900" dirty="0"/>
              <a:t>(GL_FRONT_AND_BACK, GL_FILL);</a:t>
            </a:r>
          </a:p>
          <a:p>
            <a:r>
              <a:rPr lang="en-US" sz="900" dirty="0"/>
              <a:t>}</a:t>
            </a:r>
          </a:p>
          <a:p>
            <a:endParaRPr lang="ar-SA" sz="900" dirty="0"/>
          </a:p>
          <a:p>
            <a:r>
              <a:rPr lang="ar-SA" sz="900" dirty="0"/>
              <a:t>المفتاح	الوظيفة	الفائدة</a:t>
            </a:r>
          </a:p>
          <a:p>
            <a:r>
              <a:rPr lang="en-US" sz="900" dirty="0"/>
              <a:t>ESC	</a:t>
            </a:r>
            <a:r>
              <a:rPr lang="ar-SA" sz="900" dirty="0"/>
              <a:t>إغلاق البرنامج	-</a:t>
            </a:r>
          </a:p>
          <a:p>
            <a:r>
              <a:rPr lang="en-US" sz="900" dirty="0"/>
              <a:t>SPACE	</a:t>
            </a:r>
            <a:r>
              <a:rPr lang="ar-SA" sz="900" dirty="0"/>
              <a:t>التبديل لوضع </a:t>
            </a:r>
            <a:r>
              <a:rPr lang="en-US" sz="900" dirty="0"/>
              <a:t>Wireframe	</a:t>
            </a:r>
            <a:r>
              <a:rPr lang="ar-SA" sz="900" dirty="0"/>
              <a:t>لمشاهدة هيكل المثلثات</a:t>
            </a:r>
          </a:p>
          <a:p>
            <a:r>
              <a:rPr lang="en-US" sz="900" dirty="0"/>
              <a:t>ENTER	</a:t>
            </a:r>
            <a:r>
              <a:rPr lang="ar-SA" sz="900" dirty="0"/>
              <a:t>الرجوع للوضع الطبيعي	لرؤية الألوان كاملة</a:t>
            </a:r>
            <a:endParaRPr lang="en-US" sz="900" dirty="0"/>
          </a:p>
        </p:txBody>
      </p:sp>
    </p:spTree>
    <p:extLst>
      <p:ext uri="{BB962C8B-B14F-4D97-AF65-F5344CB8AC3E}">
        <p14:creationId xmlns:p14="http://schemas.microsoft.com/office/powerpoint/2010/main" val="1766304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1451</Words>
  <Application>Microsoft Office PowerPoint</Application>
  <PresentationFormat>Widescreen</PresentationFormat>
  <Paragraphs>157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Menlo</vt:lpstr>
      <vt:lpstr>quote-cjk-patch</vt:lpstr>
      <vt:lpstr>Office Theme</vt:lpstr>
      <vt:lpstr>PowerPoint Presentation</vt:lpstr>
      <vt:lpstr>Robot SR-2000 (وجه روبوت متحرك)</vt:lpstr>
      <vt:lpstr> شرح مبسط:</vt:lpstr>
      <vt:lpstr>Vertex Data (بيانات الرؤوس) </vt:lpstr>
      <vt:lpstr>Shaders (برامج الرسم) </vt:lpstr>
      <vt:lpstr>برامج الشيدر المتعددة </vt:lpstr>
      <vt:lpstr>Uniforms</vt:lpstr>
      <vt:lpstr> ترتيب الرسم </vt:lpstr>
      <vt:lpstr>إعدادات </vt:lpstr>
      <vt:lpstr>حركة العيون </vt:lpstr>
      <vt:lpstr> حركة الفم </vt:lpstr>
      <vt:lpstr>VAO و VBO  </vt:lpstr>
      <vt:lpstr>User Input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1</cp:revision>
  <dcterms:created xsi:type="dcterms:W3CDTF">2026-02-27T14:55:02Z</dcterms:created>
  <dcterms:modified xsi:type="dcterms:W3CDTF">2026-02-27T16:21:17Z</dcterms:modified>
</cp:coreProperties>
</file>